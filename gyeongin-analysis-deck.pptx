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1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0584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1">
                <a:solidFill>
                  <a:srgbClr val="F0A88C"/>
                </a:solidFill>
                <a:latin typeface="맑은 고딕"/>
              </a:rPr>
              <a:t>원불교 경기인천교구 · 교화 데이터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59152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맑은 고딕"/>
              </a:rPr>
              <a:t>경기인천교구 세부분석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10128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>
                <a:solidFill>
                  <a:srgbClr val="C8C6E4"/>
                </a:solidFill>
                <a:latin typeface="맑은 고딕"/>
              </a:rPr>
              <a:t>무엇을 확인했고, 어디서 갈릴 수 있는가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977639"/>
            <a:ext cx="1828800" cy="45720"/>
          </a:xfrm>
          <a:prstGeom prst="rect">
            <a:avLst/>
          </a:prstGeom>
          <a:solidFill>
            <a:srgbClr val="E8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422452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원기97~110년(서기 2012~2025) · 14년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9C99C8"/>
                </a:solidFill>
                <a:latin typeface="맑은 고딕"/>
              </a:rPr>
              <a:t>총합본 제4판(2026-08-24)에서 추림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85216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>
                <a:solidFill>
                  <a:srgbClr val="8B88B8"/>
                </a:solidFill>
                <a:latin typeface="맑은 고딕"/>
              </a:rPr>
              <a:t>이 자료는 「함께 움직였다」까지만 말합니다 · 정책 결론은 담지 않았습니다(규약 5-1)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>
                <a:solidFill>
                  <a:srgbClr val="8B88B8"/>
                </a:solidFill>
                <a:latin typeface="맑은 고딕"/>
              </a:rPr>
              <a:t>슬라이드마다 ◇논점 을 달았습니다 — 연구진이 갈릴 수 있는 자리와, 갈리면 무엇을 더 봐야 하는지입니다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05840" y="228600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1">
                <a:solidFill>
                  <a:srgbClr val="E8602E"/>
                </a:solidFill>
                <a:latin typeface="맑은 고딕"/>
              </a:rPr>
              <a:t>0부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600" b="1">
                <a:solidFill>
                  <a:srgbClr val="312D5E"/>
                </a:solidFill>
                <a:latin typeface="맑은 고딕"/>
              </a:rPr>
              <a:t>이 자료를 어떻게 볼 것인가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657600"/>
            <a:ext cx="9601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00" b="0">
                <a:solidFill>
                  <a:srgbClr val="4A5260"/>
                </a:solidFill>
                <a:latin typeface="맑은 고딕"/>
              </a:rPr>
              <a:t>· 어디까지가 확인된 것이고 어디부터가 해석인가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00" b="0">
                <a:solidFill>
                  <a:srgbClr val="4A5260"/>
                </a:solidFill>
                <a:latin typeface="맑은 고딕"/>
              </a:rPr>
              <a:t>· 무엇을 셌고, 무엇을 세지 못했는가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00" b="0">
                <a:solidFill>
                  <a:srgbClr val="4A5260"/>
                </a:solidFill>
                <a:latin typeface="맑은 고딕"/>
              </a:rPr>
              <a:t>· 이 숫자를 흔들 수 있는 것은 무엇인가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8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>
                <a:solidFill>
                  <a:srgbClr val="E8602E"/>
                </a:solidFill>
                <a:latin typeface="맑은 고딕"/>
              </a:rPr>
              <a:t>00 규칙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109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500" b="1">
                <a:solidFill>
                  <a:srgbClr val="312D5E"/>
                </a:solidFill>
                <a:latin typeface="맑은 고딕"/>
              </a:rPr>
              <a:t>논의를 여는 규칙 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33271"/>
            <a:ext cx="11109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</a:rPr>
              <a:t>이 자료를 놓고 이야기할 때 서로 어긋나지 않기 위해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55664"/>
            <a:ext cx="1325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000" b="1">
                <a:solidFill>
                  <a:srgbClr val="B7BCC6"/>
                </a:solidFill>
                <a:latin typeface="맑은 고딕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B7BCC6"/>
                </a:solidFill>
                <a:latin typeface="맑은 고딕"/>
              </a:rPr>
              <a:t>원불교 경기인천교구 · 세부분석 총합본 제4판 · 연구팀 논의용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548640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68096" y="1609344"/>
            <a:ext cx="504748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1">
                <a:solidFill>
                  <a:srgbClr val="312D5E"/>
                </a:solidFill>
                <a:latin typeface="맑은 고딕"/>
              </a:rPr>
              <a:t>① 곳수를 밝히고 말한다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20240"/>
            <a:ext cx="50474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맑은 고딕"/>
              </a:rPr>
              <a:t>섞으면 부호가 갈린다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176272"/>
            <a:ext cx="5047488" cy="1435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· 14년 흐름 → 38곳 · 분포·단년 → 43곳 · 재정 → 37곳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· 인구 분모 → 교당 소재 시·군·구 34곳을 14년 고정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· 실제 사례 — 인구 1만 명당 출석은 43곳이면 57.4명,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   38곳이면 59.2명이다. 같은 자료인데 값이 다르다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· 43이 두 집합이다 — 모집단 43(번개 제외·경기판교 포함)과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   원자료 43(번개 포함·경기판교 없음)은 수만 같다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1463040"/>
            <a:ext cx="5504688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73368" y="1609344"/>
            <a:ext cx="506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1">
                <a:solidFill>
                  <a:srgbClr val="312D5E"/>
                </a:solidFill>
                <a:latin typeface="맑은 고딕"/>
              </a:rPr>
              <a:t>② 「출석」이 무엇인지 붙잡는다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1920240"/>
            <a:ext cx="506577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맑은 고딕"/>
              </a:rPr>
              <a:t>사람 수가 아니다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176272"/>
            <a:ext cx="5065775" cy="1435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· 정례5종(일반·청년·대학생·학생·어린이) 한 해 합계 인원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· 한 분이 50번 나오시면 50이다 — 연인원이다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· 그래서 「출석 감소」에는 두 가지가 섞인다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   ㉠ 나오시는 분이 줄었다  ㉡ 같은 분이 덜 나오신다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· 군법회는 뺐다 — 14년 군법회의 80.1%가 번개교당이고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   번개는 이 분석의 43곳에 들지 않는다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13632"/>
            <a:ext cx="548640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68096" y="4059936"/>
            <a:ext cx="504748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1">
                <a:solidFill>
                  <a:srgbClr val="312D5E"/>
                </a:solidFill>
                <a:latin typeface="맑은 고딕"/>
              </a:rPr>
              <a:t>③ 상관을 인과로 읽지 않는다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4370832"/>
            <a:ext cx="50474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맑은 고딕"/>
              </a:rPr>
              <a:t>이 분석 전체의 한계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4626864"/>
            <a:ext cx="5047488" cy="12070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· 이 자료가 말할 수 있는 것은 「같은 해에 함께 움직였다」까지다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· 연 단위 자료라 선후를 가릴 수 없다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· 담당·개설·출석이 같은 해에 적혀 있어도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   무엇이 먼저인지는 이 자료로 판정할 수 없다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3912" y="3913632"/>
            <a:ext cx="5504688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373368" y="4059936"/>
            <a:ext cx="506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1">
                <a:solidFill>
                  <a:srgbClr val="312D5E"/>
                </a:solidFill>
                <a:latin typeface="맑은 고딕"/>
              </a:rPr>
              <a:t>④ 기록과 현장을 구별한다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370832"/>
            <a:ext cx="506577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맑은 고딕"/>
              </a:rPr>
              <a:t>가장 근본적인 한계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4626864"/>
            <a:ext cx="5065775" cy="12070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· 모든 기록은 교당이 원티스에 스스로 입력한 것이다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· 집계·개인 도장·법회 기록이 사실상 한 뿌리로 보인다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   → 장부끼리 맞는다는 것이 현장의 보증이 되지 못한다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· 개설수는 「기록된 횟수」다 — 안 연 것과 안 적은 것을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   완전히 가를 수 없다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8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>
                <a:solidFill>
                  <a:srgbClr val="E8602E"/>
                </a:solidFill>
                <a:latin typeface="맑은 고딕"/>
              </a:rPr>
              <a:t>00 자료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109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500" b="1">
                <a:solidFill>
                  <a:srgbClr val="312D5E"/>
                </a:solidFill>
                <a:latin typeface="맑은 고딕"/>
              </a:rPr>
              <a:t>쓴 원자료와 그 이력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33271"/>
            <a:ext cx="11109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</a:rPr>
              <a:t>모두 원자료에서 코드로 계산했다 · 임의로 뺀 행은 없다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55664"/>
            <a:ext cx="1325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000" b="1">
                <a:solidFill>
                  <a:srgbClr val="B7BCC6"/>
                </a:solidFill>
                <a:latin typeface="맑은 고딕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B7BCC6"/>
                </a:solidFill>
                <a:latin typeface="맑은 고딕"/>
              </a:rPr>
              <a:t>원불교 경기인천교구 · 세부분석 총합본 제4판 · 연구팀 논의용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685800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68096" y="1609344"/>
            <a:ext cx="641908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1">
                <a:solidFill>
                  <a:srgbClr val="312D5E"/>
                </a:solidFill>
                <a:latin typeface="맑은 고딕"/>
              </a:rPr>
              <a:t>원자료 10종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20240"/>
            <a:ext cx="6419088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00" b="0">
                <a:solidFill>
                  <a:srgbClr val="333A45"/>
                </a:solidFill>
                <a:latin typeface="맑은 고딕"/>
              </a:rPr>
              <a:t>· 교당×연도 확장 패널   580행 (43곳×14년)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00" b="0">
                <a:solidFill>
                  <a:srgbClr val="333A45"/>
                </a:solidFill>
                <a:latin typeface="맑은 고딕"/>
              </a:rPr>
              <a:t>· 법회 개설 기록      20열 기록 43,038줄 + 34,362행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00" b="0">
                <a:solidFill>
                  <a:srgbClr val="333A45"/>
                </a:solidFill>
                <a:latin typeface="맑은 고딕"/>
              </a:rPr>
              <a:t>· 개인×법회 기록      892,907행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00" b="0">
                <a:solidFill>
                  <a:srgbClr val="333A45"/>
                </a:solidFill>
                <a:latin typeface="맑은 고딕"/>
              </a:rPr>
              <a:t>· 개인×연도         43,892행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00" b="0">
                <a:solidFill>
                  <a:srgbClr val="333A45"/>
                </a:solidFill>
                <a:latin typeface="맑은 고딕"/>
              </a:rPr>
              <a:t>· 교도 명부         22,871명 (가명)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00" b="0">
                <a:solidFill>
                  <a:srgbClr val="333A45"/>
                </a:solidFill>
                <a:latin typeface="맑은 고딕"/>
              </a:rPr>
              <a:t>· 연령별 교도        33,350행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00" b="0">
                <a:solidFill>
                  <a:srgbClr val="333A45"/>
                </a:solidFill>
                <a:latin typeface="맑은 고딕"/>
              </a:rPr>
              <a:t>· 교화단           1,910행 (42곳×15년)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00" b="0">
                <a:solidFill>
                  <a:srgbClr val="333A45"/>
                </a:solidFill>
                <a:latin typeface="맑은 고딕"/>
              </a:rPr>
              <a:t>· 군법회           102행 (8곳)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00" b="0">
                <a:solidFill>
                  <a:srgbClr val="333A45"/>
                </a:solidFill>
                <a:latin typeface="맑은 고딕"/>
              </a:rPr>
              <a:t>· 재정            49,583행 → 교당·계정층1 5,393행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00" b="0">
                <a:solidFill>
                  <a:srgbClr val="333A45"/>
                </a:solidFill>
                <a:latin typeface="맑은 고딕"/>
              </a:rPr>
              <a:t>· 지역 인구         479행 → 교당 소재 34곳 476행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5512" y="1463040"/>
            <a:ext cx="4133087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744968" y="1609344"/>
            <a:ext cx="36941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1">
                <a:solidFill>
                  <a:srgbClr val="312D5E"/>
                </a:solidFill>
                <a:latin typeface="맑은 고딕"/>
              </a:rPr>
              <a:t>이력을 남기는 방식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44968" y="1920240"/>
            <a:ext cx="369417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맑은 고딕"/>
              </a:rPr>
              <a:t>모든 재계산에 한 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4968" y="2176272"/>
            <a:ext cx="3694175" cy="36758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「원자료 N행 → 제외 n행 → 사용 N−n행」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/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보기 —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· 확장패널 580행 → 제외 0 → 580행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· 법회목록 49,085줄 → 20열 기록만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   43,038줄 (머리글·소계·「목록 없음」 제외)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· 교화단 1,910행 → 원기111 제외 → 1,808행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· 재정 49,583행 → 교당·계정층1 → 5,393행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/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임의 제외는 그 자체가 불일치 사유로 본다.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126479"/>
            <a:ext cx="11109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8A9099"/>
                </a:solidFill>
                <a:latin typeface="맑은 고딕"/>
              </a:rPr>
              <a:t>1차 감사에서 「개설·담당 원자료가 없다」고 본 것은 잘못이었다 — raw0/ 에 있었다. 자료안내서 ④가 경고한 자리이고, 이 프로젝트가 같은 실수를 겪은 것이 세 번째다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8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>
                <a:solidFill>
                  <a:srgbClr val="E8602E"/>
                </a:solidFill>
                <a:latin typeface="맑은 고딕"/>
              </a:rPr>
              <a:t>00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109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500" b="1">
                <a:solidFill>
                  <a:srgbClr val="312D5E"/>
                </a:solidFill>
                <a:latin typeface="맑은 고딕"/>
              </a:rPr>
              <a:t>이 숫자는 어떻게 검증했나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33271"/>
            <a:ext cx="11109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</a:rPr>
              <a:t>다른 세션이 원자료에서 처음부터 다시 계산해 맞대었다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55664"/>
            <a:ext cx="1325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000" b="1">
                <a:solidFill>
                  <a:srgbClr val="B7BCC6"/>
                </a:solidFill>
                <a:latin typeface="맑은 고딕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B7BCC6"/>
                </a:solidFill>
                <a:latin typeface="맑은 고딕"/>
              </a:rPr>
              <a:t>원불교 경기인천교구 · 세부분석 총합본 제4판 · 연구팀 논의용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81328"/>
            <a:ext cx="2104948" cy="8412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210494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900" b="1">
                <a:solidFill>
                  <a:srgbClr val="E8602E"/>
                </a:solidFill>
                <a:latin typeface="맑은 고딕"/>
              </a:rPr>
              <a:t>755개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21049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맑은 고딕"/>
              </a:rPr>
              <a:t>본문 수치 전량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99892" y="1481328"/>
            <a:ext cx="2104948" cy="8412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799892" y="1600200"/>
            <a:ext cx="210494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900" b="1">
                <a:solidFill>
                  <a:srgbClr val="E8602E"/>
                </a:solidFill>
                <a:latin typeface="맑은 고딕"/>
              </a:rPr>
              <a:t>2,366개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99892" y="2011680"/>
            <a:ext cx="21049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맑은 고딕"/>
              </a:rPr>
              <a:t>그림 라벨 전량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51145" y="1481328"/>
            <a:ext cx="2104948" cy="8412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051145" y="1600200"/>
            <a:ext cx="210494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900" b="1">
                <a:solidFill>
                  <a:srgbClr val="E8602E"/>
                </a:solidFill>
                <a:latin typeface="맑은 고딕"/>
              </a:rPr>
              <a:t>7,653칸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1145" y="2011680"/>
            <a:ext cx="21049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맑은 고딕"/>
              </a:rPr>
              <a:t>부록 표 셀 전량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02398" y="1481328"/>
            <a:ext cx="2104948" cy="8412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302398" y="1600200"/>
            <a:ext cx="210494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900" b="1">
                <a:solidFill>
                  <a:srgbClr val="E8602E"/>
                </a:solidFill>
                <a:latin typeface="맑은 고딕"/>
              </a:rPr>
              <a:t>92 / 14 /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02398" y="2011680"/>
            <a:ext cx="21049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맑은 고딕"/>
              </a:rPr>
              <a:t>일치 / 불일치 / 재현 불가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53651" y="1481328"/>
            <a:ext cx="2104948" cy="8412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553651" y="1600200"/>
            <a:ext cx="210494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900" b="1">
                <a:solidFill>
                  <a:srgbClr val="E8602E"/>
                </a:solidFill>
                <a:latin typeface="맑은 고딕"/>
              </a:rPr>
              <a:t>12곳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3651" y="2011680"/>
            <a:ext cx="21049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맑은 고딕"/>
              </a:rPr>
              <a:t>제4판에서 고친 자리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2542032"/>
            <a:ext cx="685800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68096" y="2688336"/>
            <a:ext cx="641908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1">
                <a:solidFill>
                  <a:srgbClr val="312D5E"/>
                </a:solidFill>
                <a:latin typeface="맑은 고딕"/>
              </a:rPr>
              <a:t>고친 12곳의 성격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" y="2999232"/>
            <a:ext cx="64190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맑은 고딕"/>
              </a:rPr>
              <a:t>제3판 → 제4판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3255263"/>
            <a:ext cx="6419088" cy="18928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① 부록 표 두 개에 다른 계열이 실려 있었다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     · 「군법회 출석」 표 102칸이 정례5종 값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     · 「청소년 출석」 표 42칸이 명부 교도수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     · 그림 자체는 옳았다 — 표만 어긋났다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② 곳수 혼용 — 그림 36·39가 [43곳] 표기인데 38곳 계열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③ 판정 오류 — 관리·미관리 역전이 원기106이 아니라 원기108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④ 단위·정의 — 「63곳」은 「63건」, 군법회 비율의 분모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⑤ 표 제목의 장 번호 13곳, 빠진 「나이 모름」 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25512" y="2542032"/>
            <a:ext cx="4133087" cy="2788920"/>
          </a:xfrm>
          <a:prstGeom prst="roundRect">
            <a:avLst>
              <a:gd name="adj" fmla="val 5000"/>
            </a:avLst>
          </a:prstGeom>
          <a:solidFill>
            <a:srgbClr val="FFF6E8"/>
          </a:solidFill>
          <a:ln w="12700">
            <a:solidFill>
              <a:srgbClr val="F0D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7525512" y="2542032"/>
            <a:ext cx="50292" cy="2788920"/>
          </a:xfrm>
          <a:prstGeom prst="rect">
            <a:avLst/>
          </a:prstGeom>
          <a:solidFill>
            <a:srgbClr val="E8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63256" y="2679191"/>
            <a:ext cx="367588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B26A0B"/>
                </a:solidFill>
                <a:latin typeface="맑은 고딕"/>
              </a:rPr>
              <a:t>◇ 논점 — 갈릴 수 있는 자리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63256" y="2980944"/>
            <a:ext cx="3675887" cy="22219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· 표 두 개가 그림과 다른 계열이었다는 것은,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   표를 만드는 단계가 그림과 갈라져 있었다는 뜻이다.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   같은 일이 다른 표에도 있었다면 우리는 어떻게 알 수 있나?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/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· 이번엔 셀 단위 전량 대조로 잡았다.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   다음 판에도 같은 대조를 붙일 것인가?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126479"/>
            <a:ext cx="11109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8A9099"/>
                </a:solidFill>
                <a:latin typeface="맑은 고딕"/>
              </a:rPr>
              <a:t>대조표 audit/대조표_20260824.csv (113행) · 재계산 코드 audit/c1~c9*.py — 다시 돌리면 같은 값이 나온다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8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>
                <a:solidFill>
                  <a:srgbClr val="E8602E"/>
                </a:solidFill>
                <a:latin typeface="맑은 고딕"/>
              </a:rPr>
              <a:t>00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109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500" b="1">
                <a:solidFill>
                  <a:srgbClr val="312D5E"/>
                </a:solidFill>
                <a:latin typeface="맑은 고딕"/>
              </a:rPr>
              <a:t>재현되지 않은 세 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33271"/>
            <a:ext cx="11109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</a:rPr>
              <a:t>방향은 확인되나 소수점 값은 서지 않는다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55664"/>
            <a:ext cx="1325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000" b="1">
                <a:solidFill>
                  <a:srgbClr val="B7BCC6"/>
                </a:solidFill>
                <a:latin typeface="맑은 고딕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B7BCC6"/>
                </a:solidFill>
                <a:latin typeface="맑은 고딕"/>
              </a:rPr>
              <a:t>원불교 경기인천교구 · 세부분석 총합본 제4판 · 연구팀 논의용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68580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68096" y="1609344"/>
            <a:ext cx="641908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1">
                <a:solidFill>
                  <a:srgbClr val="312D5E"/>
                </a:solidFill>
                <a:latin typeface="맑은 고딕"/>
              </a:rPr>
              <a:t>6-1 두 장부 대조 — 세 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20240"/>
            <a:ext cx="6419088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                                       보고서      감사 재계산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· 두 장부의 상관                    0.794       0.813(43곳) · 0.831(38곳)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· 역산 기준 원기100→110 개설    −44%        −42.1%(정례5종) · −39.7%(전체)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· 원기105 낙폭(역산 장부)           −43.8%      −43.5%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/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재현된 것 — 원기105 낙폭(법회 기록) −43.7% · 원기100은 「약 6할」(0.58)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5512" y="1463040"/>
            <a:ext cx="4133087" cy="2286000"/>
          </a:xfrm>
          <a:prstGeom prst="roundRect">
            <a:avLst>
              <a:gd name="adj" fmla="val 5000"/>
            </a:avLst>
          </a:prstGeom>
          <a:solidFill>
            <a:srgbClr val="FFF6E8"/>
          </a:solidFill>
          <a:ln w="12700">
            <a:solidFill>
              <a:srgbClr val="F0D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7525512" y="1463040"/>
            <a:ext cx="50292" cy="2286000"/>
          </a:xfrm>
          <a:prstGeom prst="rect">
            <a:avLst/>
          </a:prstGeom>
          <a:solidFill>
            <a:srgbClr val="E8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763256" y="1600200"/>
            <a:ext cx="367588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B26A0B"/>
                </a:solidFill>
                <a:latin typeface="맑은 고딕"/>
              </a:rPr>
              <a:t>◇ 논점 — 갈릴 수 있는 자리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63256" y="1901952"/>
            <a:ext cx="3675887" cy="1719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· 「법회 1회」를 무엇으로 셀 것인가가 특정되지 않았다.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   (교당,일자,종류)인가, (교당,일자)인가, 법회구분을 다 넣나?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· 셋 다 방향은 같다. 그래도 소수점 값을 인용할 것인가,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   아니면 「40%대 감소」처럼 폭으로만 말할 것인가?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886200"/>
            <a:ext cx="1110996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68096" y="4032504"/>
            <a:ext cx="106710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1">
                <a:solidFill>
                  <a:srgbClr val="312D5E"/>
                </a:solidFill>
                <a:latin typeface="맑은 고딕"/>
              </a:rPr>
              <a:t>그 밖에 조건을 특정하지 못한 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4343400"/>
            <a:ext cx="106710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맑은 고딕"/>
              </a:rPr>
              <a:t>억지로 맞추지 않고 남겨 두었다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4599432"/>
            <a:ext cx="10671048" cy="12070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· 8장 자주 나오시는 층의 실인원·층별 인원 — 근거 파일은 panel_person_year_b3.csv 로 좁혔으나 원고가 쓴 걸러내기 조건을 특정하지 못했다.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   원기110년 2,569명과 12.6%는 정확히 재현된다. 원기100 실인원은 원고 3,355 대 재계산 3,611이다.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· 5-2·11-3 회귀 33개 모형·상관 16건 — 동결된 통계 산출물이고 재적합 조건을 특정하지 못했다.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· 6-3·6-4·6-5 18세 이하 출석·중단 직전 궤적·유지 8곳 — 개인 기록에 연령이 없어 조건을 특정하지 못했다.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05840" y="228600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1">
                <a:solidFill>
                  <a:srgbClr val="E8602E"/>
                </a:solidFill>
                <a:latin typeface="맑은 고딕"/>
              </a:rPr>
              <a:t>1부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600" b="1">
                <a:solidFill>
                  <a:srgbClr val="312D5E"/>
                </a:solidFill>
                <a:latin typeface="맑은 고딕"/>
              </a:rPr>
              <a:t>얼마나, 어떤 모양으로 줄었나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657600"/>
            <a:ext cx="9601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00" b="0">
                <a:solidFill>
                  <a:srgbClr val="4A5260"/>
                </a:solidFill>
                <a:latin typeface="맑은 고딕"/>
              </a:rPr>
              <a:t>· 총량과 속도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00" b="0">
                <a:solidFill>
                  <a:srgbClr val="4A5260"/>
                </a:solidFill>
                <a:latin typeface="맑은 고딕"/>
              </a:rPr>
              <a:t>· 감소를 두 몫으로 나누면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00" b="0">
                <a:solidFill>
                  <a:srgbClr val="4A5260"/>
                </a:solidFill>
                <a:latin typeface="맑은 고딕"/>
              </a:rPr>
              <a:t>· 원기105·106년을 어떻게 읽을 것인가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8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>
                <a:solidFill>
                  <a:srgbClr val="E8602E"/>
                </a:solidFill>
                <a:latin typeface="맑은 고딕"/>
              </a:rPr>
              <a:t>01 총량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109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500" b="1">
                <a:solidFill>
                  <a:srgbClr val="312D5E"/>
                </a:solidFill>
                <a:latin typeface="맑은 고딕"/>
              </a:rPr>
              <a:t>총량 — 14년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33271"/>
            <a:ext cx="11109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</a:rPr>
              <a:t>정례5종 한 해 합계 인원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55664"/>
            <a:ext cx="1325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000" b="1">
                <a:solidFill>
                  <a:srgbClr val="B7BCC6"/>
                </a:solidFill>
                <a:latin typeface="맑은 고딕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B7BCC6"/>
                </a:solidFill>
                <a:latin typeface="맑은 고딕"/>
              </a:rPr>
              <a:t>원불교 경기인천교구 · 세부분석 총합본 제4판 · 연구팀 논의용</a:t>
            </a:r>
          </a:p>
        </p:txBody>
      </p:sp>
      <p:pic>
        <p:nvPicPr>
          <p:cNvPr id="8" name="Picture 7" descr="f01_출석14년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7040880" cy="290843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772400" y="1417320"/>
            <a:ext cx="388620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991856" y="1563624"/>
            <a:ext cx="344728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1">
                <a:solidFill>
                  <a:srgbClr val="312D5E"/>
                </a:solidFill>
                <a:latin typeface="맑은 고딕"/>
              </a:rPr>
              <a:t>확인된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91856" y="1874519"/>
            <a:ext cx="3447288" cy="2468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· 43곳 84,557 → 67,722명 (−19.9%)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· 38곳 84,557 → 64,267명 (−24.0%)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· 교당 한 곳당 2,225 → 1,575명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/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· 한 속도가 아니다 — 코로나 전에도 완만한 내리막,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   원기105 급락, 이후 부분 회복, 원기108 뒤 재하락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· 원기97 자리로는 돌아가지 못했다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4663440"/>
            <a:ext cx="3886200" cy="1417320"/>
          </a:xfrm>
          <a:prstGeom prst="roundRect">
            <a:avLst>
              <a:gd name="adj" fmla="val 5000"/>
            </a:avLst>
          </a:prstGeom>
          <a:solidFill>
            <a:srgbClr val="FFF6E8"/>
          </a:solidFill>
          <a:ln w="12700">
            <a:solidFill>
              <a:srgbClr val="F0D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7772400" y="4663440"/>
            <a:ext cx="50292" cy="1417320"/>
          </a:xfrm>
          <a:prstGeom prst="rect">
            <a:avLst/>
          </a:prstGeom>
          <a:solidFill>
            <a:srgbClr val="E8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10144" y="4800600"/>
            <a:ext cx="3429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B26A0B"/>
                </a:solidFill>
                <a:latin typeface="맑은 고딕"/>
              </a:rPr>
              <a:t>◇ 논점 — 갈릴 수 있는 자리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10144" y="5102352"/>
            <a:ext cx="3429000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· 「−19.9%」와 「−24.0%」 중 대외적으로 무엇을 주 수치로 쓸 것인가?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   43곳은 지금 모습, 38곳은 같은 교당의 14년이다.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126479"/>
            <a:ext cx="11109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8A9099"/>
                </a:solidFill>
                <a:latin typeface="맑은 고딕"/>
              </a:rPr>
              <a:t>신설 5곳(동탄·안산국제·청라·병점·경기판교)이 들어오는 해부터 두 선의 간격이 벌어진다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8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>
                <a:solidFill>
                  <a:srgbClr val="E8602E"/>
                </a:solidFill>
                <a:latin typeface="맑은 고딕"/>
              </a:rPr>
              <a:t>01 분해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109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500" b="1">
                <a:solidFill>
                  <a:srgbClr val="312D5E"/>
                </a:solidFill>
                <a:latin typeface="맑은 고딕"/>
              </a:rPr>
              <a:t>감소를 두 몫으로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33271"/>
            <a:ext cx="11109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</a:rPr>
              <a:t>출석 = 개설 횟수 × 법회 한 번당 출석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55664"/>
            <a:ext cx="1325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000" b="1">
                <a:solidFill>
                  <a:srgbClr val="B7BCC6"/>
                </a:solidFill>
                <a:latin typeface="맑은 고딕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B7BCC6"/>
                </a:solidFill>
                <a:latin typeface="맑은 고딕"/>
              </a:rPr>
              <a:t>원불교 경기인천교구 · 세부분석 총합본 제4판 · 연구팀 논의용</a:t>
            </a:r>
          </a:p>
        </p:txBody>
      </p:sp>
      <p:pic>
        <p:nvPicPr>
          <p:cNvPr id="8" name="Picture 7" descr="f02_두몫분해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5943600" cy="183584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3310128"/>
            <a:ext cx="7040880" cy="27249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8096" y="3456432"/>
            <a:ext cx="66019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1">
                <a:solidFill>
                  <a:srgbClr val="312D5E"/>
                </a:solidFill>
                <a:latin typeface="맑은 고딕"/>
              </a:rPr>
              <a:t>어떻게 계산했나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3767328"/>
            <a:ext cx="66019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맑은 고딕"/>
              </a:rPr>
              <a:t>양끝 두 해 · 43곳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4023360"/>
            <a:ext cx="660196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· 원기97  개설 3,116회 × 회당 27.14명 = 84,557명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· 원기110 개설 2,754회 × 회당 24.59명 = 67,722명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· 개설수 몫 −9,823명 · 회당 몫 −7,933명 · 교호작용 +922명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· 합 −16,835 — 실제 증감과 정확히 일치한다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· 기여율(교호작용 제외·절대값) 개설 55.3% / 회당 44.7%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/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· 분자는 확장패널 attend_regular5, 분모는 법회목록 기록 수다.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   두 자료의 출처가 달라 「출석÷개설」은 엄밀히는 혼합 지표다.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1371600"/>
            <a:ext cx="3886200" cy="4663440"/>
          </a:xfrm>
          <a:prstGeom prst="roundRect">
            <a:avLst>
              <a:gd name="adj" fmla="val 5000"/>
            </a:avLst>
          </a:prstGeom>
          <a:solidFill>
            <a:srgbClr val="FFF6E8"/>
          </a:solidFill>
          <a:ln w="12700">
            <a:solidFill>
              <a:srgbClr val="F0D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772400" y="1371600"/>
            <a:ext cx="50292" cy="4663440"/>
          </a:xfrm>
          <a:prstGeom prst="rect">
            <a:avLst/>
          </a:prstGeom>
          <a:solidFill>
            <a:srgbClr val="E8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0144" y="1508760"/>
            <a:ext cx="3429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B26A0B"/>
                </a:solidFill>
                <a:latin typeface="맑은 고딕"/>
              </a:rPr>
              <a:t>◇ 논점 — 갈릴 수 있는 자리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0144" y="1810512"/>
            <a:ext cx="3429000" cy="40965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· 양끝 두 해 기준이다. 3년 평균(97~99 대 108~110)으로 바꾸면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   몫이 달라지는가? 달라진다면 어느 쪽을 쓸 것인가?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/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· 교호작용 +922명을 어떻게 배분할 것인가?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   지금은 절대값 기준으로 빼고 계산했다.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   균등 배분하면 55/44가 아니라 다른 값이 된다.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/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· 분자와 분모의 출처가 다르다는 점을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   대외 인용문에 밝힐 것인가?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/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· 「법회가 덜 열려서」가 절반 이상이라는 진술은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   개설 기록의 신뢰도에 통째로 기댄다.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   원기106 급증 문제(다음 장)와 함께 봐야 한다.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8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>
                <a:solidFill>
                  <a:srgbClr val="E8602E"/>
                </a:solidFill>
                <a:latin typeface="맑은 고딕"/>
              </a:rPr>
              <a:t>01 개설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109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500" b="1">
                <a:solidFill>
                  <a:srgbClr val="312D5E"/>
                </a:solidFill>
                <a:latin typeface="맑은 고딕"/>
              </a:rPr>
              <a:t>개설 횟수 — 원기105·106년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33271"/>
            <a:ext cx="11109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</a:rPr>
              <a:t>가장 크게 흔들린 두 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55664"/>
            <a:ext cx="1325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000" b="1">
                <a:solidFill>
                  <a:srgbClr val="B7BCC6"/>
                </a:solidFill>
                <a:latin typeface="맑은 고딕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B7BCC6"/>
                </a:solidFill>
                <a:latin typeface="맑은 고딕"/>
              </a:rPr>
              <a:t>원불교 경기인천교구 · 세부분석 총합본 제4판 · 연구팀 논의용</a:t>
            </a:r>
          </a:p>
        </p:txBody>
      </p:sp>
      <p:pic>
        <p:nvPicPr>
          <p:cNvPr id="8" name="Picture 7" descr="f03_개설횟수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7040880" cy="291217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772400" y="1371600"/>
            <a:ext cx="388620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991856" y="1517904"/>
            <a:ext cx="344728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1">
                <a:solidFill>
                  <a:srgbClr val="312D5E"/>
                </a:solidFill>
                <a:latin typeface="맑은 고딕"/>
              </a:rPr>
              <a:t>확인된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91856" y="1828800"/>
            <a:ext cx="344728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00" b="0">
                <a:solidFill>
                  <a:srgbClr val="333A45"/>
                </a:solidFill>
                <a:latin typeface="맑은 고딕"/>
              </a:rPr>
              <a:t>· 3,116 → 2,823회 (교당당 82.0 → 64.0회 · −22%)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00" b="0">
                <a:solidFill>
                  <a:srgbClr val="333A45"/>
                </a:solidFill>
                <a:latin typeface="맑은 고딕"/>
              </a:rPr>
              <a:t>· 원기104→105 −43.7% · 105→106 +51.4%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00" b="0">
                <a:solidFill>
                  <a:srgbClr val="333A45"/>
                </a:solidFill>
                <a:latin typeface="맑은 고딕"/>
              </a:rPr>
              <a:t>· 원기105 회당 28.5명(14년 최고) — 나눗셈 효과다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00" b="0">
                <a:solidFill>
                  <a:srgbClr val="333A45"/>
                </a:solidFill>
                <a:latin typeface="맑은 고딕"/>
              </a:rPr>
              <a:t>· 한 번에 적게 오던 법회가 먼저 닫혔다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00" b="0">
                <a:solidFill>
                  <a:srgbClr val="333A45"/>
                </a:solidFill>
                <a:latin typeface="맑은 고딕"/>
              </a:rPr>
              <a:t>   어린이 442→78회(−82.4) · 학생 −56.2 · 청년 −55.4 · 일반 −32.2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3977639"/>
            <a:ext cx="3886200" cy="2057400"/>
          </a:xfrm>
          <a:prstGeom prst="roundRect">
            <a:avLst>
              <a:gd name="adj" fmla="val 5000"/>
            </a:avLst>
          </a:prstGeom>
          <a:solidFill>
            <a:srgbClr val="FFF6E8"/>
          </a:solidFill>
          <a:ln w="12700">
            <a:solidFill>
              <a:srgbClr val="F0D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7772400" y="3977639"/>
            <a:ext cx="50292" cy="2057400"/>
          </a:xfrm>
          <a:prstGeom prst="rect">
            <a:avLst/>
          </a:prstGeom>
          <a:solidFill>
            <a:srgbClr val="E8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10144" y="4114800"/>
            <a:ext cx="3429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B26A0B"/>
                </a:solidFill>
                <a:latin typeface="맑은 고딕"/>
              </a:rPr>
              <a:t>◇ 논점 — 갈릴 수 있는 자리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10144" y="4416552"/>
            <a:ext cx="3429000" cy="1490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· 원기106년에 개설 기록이 갑자기 늘어난 교당이 많다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   (북인천 141 · 부천 83 · 과천 77 · 성남 84회 등).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   비대면 병기로 짐작되나 확인되지 않았다.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· 이것이 사실이면 원기106 이후 「회당 출석」은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   분모가 부풀어 낮게 나온다. 두 몫 분해도 흔들린다.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· 어떻게 확인할 것인가? 교당 문의? 원티스 입력 이력?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05840" y="228600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1">
                <a:solidFill>
                  <a:srgbClr val="E8602E"/>
                </a:solidFill>
                <a:latin typeface="맑은 고딕"/>
              </a:rPr>
              <a:t>2부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600" b="1">
                <a:solidFill>
                  <a:srgbClr val="312D5E"/>
                </a:solidFill>
                <a:latin typeface="맑은 고딕"/>
              </a:rPr>
              <a:t>무엇이 줄었나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657600"/>
            <a:ext cx="9601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00" b="0">
                <a:solidFill>
                  <a:srgbClr val="4A5260"/>
                </a:solidFill>
                <a:latin typeface="맑은 고딕"/>
              </a:rPr>
              <a:t>· 법회 종류마다 다른 모양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00" b="0">
                <a:solidFill>
                  <a:srgbClr val="4A5260"/>
                </a:solidFill>
                <a:latin typeface="맑은 고딕"/>
              </a:rPr>
              <a:t>· 청소년 법회의 소멸은 코로나 전부터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00" b="0">
                <a:solidFill>
                  <a:srgbClr val="4A5260"/>
                </a:solidFill>
                <a:latin typeface="맑은 고딕"/>
              </a:rPr>
              <a:t>· 「재등장」의 실체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8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>
                <a:solidFill>
                  <a:srgbClr val="E8602E"/>
                </a:solidFill>
                <a:latin typeface="맑은 고딕"/>
              </a:rPr>
              <a:t>02 종류별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109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500" b="1">
                <a:solidFill>
                  <a:srgbClr val="312D5E"/>
                </a:solidFill>
                <a:latin typeface="맑은 고딕"/>
              </a:rPr>
              <a:t>법회 종류별 — 같은 감소가 아니다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33271"/>
            <a:ext cx="11109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</a:rPr>
              <a:t>일반은 밀도가, 청소년은 여는 곳 자체가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55664"/>
            <a:ext cx="1325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000" b="1">
                <a:solidFill>
                  <a:srgbClr val="B7BCC6"/>
                </a:solidFill>
                <a:latin typeface="맑은 고딕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B7BCC6"/>
                </a:solidFill>
                <a:latin typeface="맑은 고딕"/>
              </a:rPr>
              <a:t>원불교 경기인천교구 · 세부분석 총합본 제4판 · 연구팀 논의용</a:t>
            </a:r>
          </a:p>
        </p:txBody>
      </p:sp>
      <p:pic>
        <p:nvPicPr>
          <p:cNvPr id="8" name="Picture 7" descr="f04_종류별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5669280" cy="2173073"/>
          </a:xfrm>
          <a:prstGeom prst="rect">
            <a:avLst/>
          </a:prstGeom>
        </p:spPr>
      </p:pic>
      <p:pic>
        <p:nvPicPr>
          <p:cNvPr id="9" name="Picture 8" descr="f05_청소년3종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5486400" cy="227797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48640" y="4343400"/>
            <a:ext cx="5669280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68096" y="4489704"/>
            <a:ext cx="52303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1">
                <a:solidFill>
                  <a:srgbClr val="312D5E"/>
                </a:solidFill>
                <a:latin typeface="맑은 고딕"/>
              </a:rPr>
              <a:t>확인된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4800600"/>
            <a:ext cx="5230368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00" b="0">
                <a:solidFill>
                  <a:srgbClr val="333A45"/>
                </a:solidFill>
                <a:latin typeface="맑은 고딕"/>
              </a:rPr>
              <a:t>· 일반 74,204 → 64,843명 (−12.6%) — 밀도는 42.6 → 30.2명(−29%)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00" b="0">
                <a:solidFill>
                  <a:srgbClr val="333A45"/>
                </a:solidFill>
                <a:latin typeface="맑은 고딕"/>
              </a:rPr>
              <a:t>· 학생 2,286 → 341명(−85.1) · 어린이 5,847 → 1,378명(−76.4)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00" b="0">
                <a:solidFill>
                  <a:srgbClr val="333A45"/>
                </a:solidFill>
                <a:latin typeface="맑은 고딕"/>
              </a:rPr>
              <a:t>· 청소년 합 10,353 → 2,879명 (−72.2%)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4343400"/>
            <a:ext cx="5303520" cy="1691640"/>
          </a:xfrm>
          <a:prstGeom prst="roundRect">
            <a:avLst>
              <a:gd name="adj" fmla="val 5000"/>
            </a:avLst>
          </a:prstGeom>
          <a:solidFill>
            <a:srgbClr val="FFF6E8"/>
          </a:solidFill>
          <a:ln w="12700">
            <a:solidFill>
              <a:srgbClr val="F0D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355080" y="4343400"/>
            <a:ext cx="50292" cy="1691640"/>
          </a:xfrm>
          <a:prstGeom prst="rect">
            <a:avLst/>
          </a:prstGeom>
          <a:solidFill>
            <a:srgbClr val="E8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92824" y="4480560"/>
            <a:ext cx="4846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B26A0B"/>
                </a:solidFill>
                <a:latin typeface="맑은 고딕"/>
              </a:rPr>
              <a:t>◇ 논점 — 갈릴 수 있는 자리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2824" y="4782312"/>
            <a:ext cx="4846320" cy="11247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· 일반법회는 「밀도」가 줄고 청소년은 「자리」가 사라졌다.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   두 감소는 성격이 다른데 하나의 −19.9%로 묶어 말해도 되는가?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· 청소년 감소를 코로나 전/후로 나눠 다시 볼 것인가?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8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>
                <a:solidFill>
                  <a:srgbClr val="E8602E"/>
                </a:solidFill>
                <a:latin typeface="맑은 고딕"/>
              </a:rPr>
              <a:t>02 재등장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109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500" b="1">
                <a:solidFill>
                  <a:srgbClr val="312D5E"/>
                </a:solidFill>
                <a:latin typeface="맑은 고딕"/>
              </a:rPr>
              <a:t>「다시 나타난 청년·어린이」의 실체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33271"/>
            <a:ext cx="11109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</a:rPr>
              <a:t>개인 기록을 한 사람씩 따라간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55664"/>
            <a:ext cx="1325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000" b="1">
                <a:solidFill>
                  <a:srgbClr val="B7BCC6"/>
                </a:solidFill>
                <a:latin typeface="맑은 고딕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B7BCC6"/>
                </a:solidFill>
                <a:latin typeface="맑은 고딕"/>
              </a:rPr>
              <a:t>원불교 경기인천교구 · 세부분석 총합본 제4판 · 연구팀 논의용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548640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68096" y="1609344"/>
            <a:ext cx="504748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1">
                <a:solidFill>
                  <a:srgbClr val="312D5E"/>
                </a:solidFill>
                <a:latin typeface="맑은 고딕"/>
              </a:rPr>
              <a:t>확인된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20240"/>
            <a:ext cx="50474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맑은 고딕"/>
              </a:rPr>
              <a:t>인천·오산·안산·성남 4곳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176272"/>
            <a:ext cx="5047488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· 네 곳 모두 대부분이 직전 3년에도 나오시던 분이었다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· 인천 87명 중 69명이 40세 이상 · 안산 63명 중 45명이 40세 이상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· 법회 구분은 법회의 이름이지 나온 사람의 나이가 아니다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/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· 예외 둘 — 오산은 규모는 작아도(11명) 실제 20대 중심,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   안산의 0~9세 13명은 실제 어린이가 온 흔적이다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1463040"/>
            <a:ext cx="5504688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73368" y="1609344"/>
            <a:ext cx="506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1">
                <a:solidFill>
                  <a:srgbClr val="312D5E"/>
                </a:solidFill>
                <a:latin typeface="맑은 고딕"/>
              </a:rPr>
              <a:t>방법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1920240"/>
            <a:ext cx="506577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맑은 고딕"/>
              </a:rPr>
              <a:t>개인 기록 892,907행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176272"/>
            <a:ext cx="5065775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· 대상 176명을 명부와 대조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· 「직전 3년에 출석 기록이 있는가」로 새 얼굴/옛 얼굴을 갈랐다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· 5명 미만 셀은 산출물에 쓰지 않았다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/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· 한계 — 개인 도장은 교도번호가 있는 분만 남는다.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   교도가 아닌 분의 출석은 이 분석 밖이다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77639"/>
            <a:ext cx="11109960" cy="2057400"/>
          </a:xfrm>
          <a:prstGeom prst="roundRect">
            <a:avLst>
              <a:gd name="adj" fmla="val 5000"/>
            </a:avLst>
          </a:prstGeom>
          <a:solidFill>
            <a:srgbClr val="FFF6E8"/>
          </a:solidFill>
          <a:ln w="12700">
            <a:solidFill>
              <a:srgbClr val="F0D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48640" y="3977639"/>
            <a:ext cx="50292" cy="2057400"/>
          </a:xfrm>
          <a:prstGeom prst="rect">
            <a:avLst/>
          </a:prstGeom>
          <a:solidFill>
            <a:srgbClr val="E8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86384" y="4114800"/>
            <a:ext cx="10652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B26A0B"/>
                </a:solidFill>
                <a:latin typeface="맑은 고딕"/>
              </a:rPr>
              <a:t>◇ 논점 — 갈릴 수 있는 자리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4416552"/>
            <a:ext cx="10652760" cy="1490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· 「미래세대가 돌아왔다」로 읽으면 틀린다는 것이 이 분석의 결론이다. 그런데 안산의 어린이 13명처럼 실제 신호도 섞여 있다.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   작은 실재 신호를 「대부분 옛 얼굴」이라는 총평이 덮어 버리지 않는가? 4곳을 하나로 묶어 말하는 것이 맞는가?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· 반대 방향의 물음 — 「법회 이름 ≠ 나이」라면, 청소년 출석 −72.2%도 법회 이름 기준이다. 연령 기준으로 다시 세면 값이 달라지는가?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   (6-3에서 원기110년 18세 이하 출석 기록 2,269건 중 36%가 일반법회에서 찍혔다는 확인이 있다)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05840" y="228600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1">
                <a:solidFill>
                  <a:srgbClr val="E8602E"/>
                </a:solidFill>
                <a:latin typeface="맑은 고딕"/>
              </a:rPr>
              <a:t>3부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600" b="1">
                <a:solidFill>
                  <a:srgbClr val="312D5E"/>
                </a:solidFill>
                <a:latin typeface="맑은 고딕"/>
              </a:rPr>
              <a:t>바깥 조건 — 인구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657600"/>
            <a:ext cx="9601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00" b="0">
                <a:solidFill>
                  <a:srgbClr val="4A5260"/>
                </a:solidFill>
                <a:latin typeface="맑은 고딕"/>
              </a:rPr>
              <a:t>· 분자와 분모가 반대로 움직였다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00" b="0">
                <a:solidFill>
                  <a:srgbClr val="4A5260"/>
                </a:solidFill>
                <a:latin typeface="맑은 고딕"/>
              </a:rPr>
              <a:t>· 관계는 있으나 약하고 조건에 따라 사라진다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00" b="0">
                <a:solidFill>
                  <a:srgbClr val="4A5260"/>
                </a:solidFill>
                <a:latin typeface="맑은 고딕"/>
              </a:rPr>
              <a:t>· 그래서 인구를 배경으로만 두었다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8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>
                <a:solidFill>
                  <a:srgbClr val="E8602E"/>
                </a:solidFill>
                <a:latin typeface="맑은 고딕"/>
              </a:rPr>
              <a:t>03 인구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109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500" b="1">
                <a:solidFill>
                  <a:srgbClr val="312D5E"/>
                </a:solidFill>
                <a:latin typeface="맑은 고딕"/>
              </a:rPr>
              <a:t>인구 — 분자와 분모가 반대로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33271"/>
            <a:ext cx="11109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</a:rPr>
              <a:t>교당이 있는 시·군·구 34곳을 14년 고정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55664"/>
            <a:ext cx="1325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000" b="1">
                <a:solidFill>
                  <a:srgbClr val="B7BCC6"/>
                </a:solidFill>
                <a:latin typeface="맑은 고딕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B7BCC6"/>
                </a:solidFill>
                <a:latin typeface="맑은 고딕"/>
              </a:rPr>
              <a:t>원불교 경기인천교구 · 세부분석 총합본 제4판 · 연구팀 논의용</a:t>
            </a:r>
          </a:p>
        </p:txBody>
      </p:sp>
      <p:pic>
        <p:nvPicPr>
          <p:cNvPr id="8" name="Picture 7" descr="f06_인구와출석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5623560" cy="2322970"/>
          </a:xfrm>
          <a:prstGeom prst="rect">
            <a:avLst/>
          </a:prstGeom>
        </p:spPr>
      </p:pic>
      <p:pic>
        <p:nvPicPr>
          <p:cNvPr id="9" name="Picture 8" descr="f07_1만명당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371600"/>
            <a:ext cx="5532120" cy="228519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48640" y="4297680"/>
            <a:ext cx="562356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68096" y="4443984"/>
            <a:ext cx="51846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1">
                <a:solidFill>
                  <a:srgbClr val="312D5E"/>
                </a:solidFill>
                <a:latin typeface="맑은 고딕"/>
              </a:rPr>
              <a:t>확인된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4754880"/>
            <a:ext cx="518464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00" b="0">
                <a:solidFill>
                  <a:srgbClr val="333A45"/>
                </a:solidFill>
                <a:latin typeface="맑은 고딕"/>
              </a:rPr>
              <a:t>· 인구 1,046만 → 1,180만 (+12.8%) · 출석 −19.9%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00" b="0">
                <a:solidFill>
                  <a:srgbClr val="333A45"/>
                </a:solidFill>
                <a:latin typeface="맑은 고딕"/>
              </a:rPr>
              <a:t>· 인구 1만 명당 출석 80.8 → 57.4명 (−29.0%)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00" b="0">
                <a:solidFill>
                  <a:srgbClr val="333A45"/>
                </a:solidFill>
                <a:latin typeface="맑은 고딕"/>
              </a:rPr>
              <a:t>· 시군구 증감 폭 −19.8% ~ +124.2% · 한 시 안 구들끼리도 갈린다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00" b="0">
                <a:solidFill>
                  <a:srgbClr val="333A45"/>
                </a:solidFill>
                <a:latin typeface="맑은 고딕"/>
              </a:rPr>
              <a:t>· 빠르게 줄어든 교당들의 동네 인구는 오히려 +8.5%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297680"/>
            <a:ext cx="5349240" cy="1737360"/>
          </a:xfrm>
          <a:prstGeom prst="roundRect">
            <a:avLst>
              <a:gd name="adj" fmla="val 5000"/>
            </a:avLst>
          </a:prstGeom>
          <a:solidFill>
            <a:srgbClr val="FFF6E8"/>
          </a:solidFill>
          <a:ln w="12700">
            <a:solidFill>
              <a:srgbClr val="F0D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309360" y="4297680"/>
            <a:ext cx="50292" cy="1737360"/>
          </a:xfrm>
          <a:prstGeom prst="rect">
            <a:avLst/>
          </a:prstGeom>
          <a:solidFill>
            <a:srgbClr val="E8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47104" y="4434840"/>
            <a:ext cx="4892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B26A0B"/>
                </a:solidFill>
                <a:latin typeface="맑은 고딕"/>
              </a:rPr>
              <a:t>◇ 논점 — 갈릴 수 있는 자리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4736592"/>
            <a:ext cx="4892040" cy="11704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· 분모를 34곳으로 고정한 것이 맞는가?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   신설 교당이 들어온 해에도 분모를 키우지 않았다.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· 「교당이 있는 시군구 인구」가 교화 대상 모집단인가?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   교당은 시군구 전역을 상대하지 않는다.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8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>
                <a:solidFill>
                  <a:srgbClr val="E8602E"/>
                </a:solidFill>
                <a:latin typeface="맑은 고딕"/>
              </a:rPr>
              <a:t>03 인구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109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500" b="1">
                <a:solidFill>
                  <a:srgbClr val="312D5E"/>
                </a:solidFill>
                <a:latin typeface="맑은 고딕"/>
              </a:rPr>
              <a:t>인구와의 관계 — 있으나 약하다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33271"/>
            <a:ext cx="11109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</a:rPr>
              <a:t>조건을 바꾸면 나타났다 사라진다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55664"/>
            <a:ext cx="1325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000" b="1">
                <a:solidFill>
                  <a:srgbClr val="B7BCC6"/>
                </a:solidFill>
                <a:latin typeface="맑은 고딕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B7BCC6"/>
                </a:solidFill>
                <a:latin typeface="맑은 고딕"/>
              </a:rPr>
              <a:t>원불교 경기인천교구 · 세부분석 총합본 제4판 · 연구팀 논의용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548640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68096" y="1609344"/>
            <a:ext cx="504748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1">
                <a:solidFill>
                  <a:srgbClr val="312D5E"/>
                </a:solidFill>
                <a:latin typeface="맑은 고딕"/>
              </a:rPr>
              <a:t>동결 산출물이 말하는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20240"/>
            <a:ext cx="50474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맑은 고딕"/>
              </a:rPr>
              <a:t>모형 33개 · 상관 16건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176272"/>
            <a:ext cx="5047488" cy="1755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· 14년 전체 — 인구 1% 변화에 출석 +0.730 (파랑)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· 기간을 코로나 전·회복 후로 쪼개면 대부분 회색(0을 걸침)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· 연령을 나누면 0~19세·20~39세만 뚜렷, 40세 이상은 흐림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· 교당 간 차이의 상관 16건이 모두 ±0.3 띠 안, 최대 +0.30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/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· 11-2가 「회복 이후 +0.69는 재현되지 않은 값이라 인용하지 않는다」고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   이미 밝혀 두었다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1463040"/>
            <a:ext cx="5504688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73368" y="1609344"/>
            <a:ext cx="506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1">
                <a:solidFill>
                  <a:srgbClr val="312D5E"/>
                </a:solidFill>
                <a:latin typeface="맑은 고딕"/>
              </a:rPr>
              <a:t>감사에서 확인하지 못한 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1920240"/>
            <a:ext cx="506577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맑은 고딕"/>
              </a:rPr>
              <a:t>재현 불가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176272"/>
            <a:ext cx="5065775" cy="1755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· 회귀 33개·상관 16건은 동결된 통계 산출물이다.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   원자료에서 재적합할 조건(추정식·표준오차·표본)을 특정하지 못했다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· 즉 이 슬라이드의 값들은 「원고 전재」이고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   감사가 독립적으로 다시 만든 값이 아니다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/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· 반면 인구·출석의 원값(분자·분모)은 전량 재현되었다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51960"/>
            <a:ext cx="11109960" cy="1783080"/>
          </a:xfrm>
          <a:prstGeom prst="roundRect">
            <a:avLst>
              <a:gd name="adj" fmla="val 5000"/>
            </a:avLst>
          </a:prstGeom>
          <a:solidFill>
            <a:srgbClr val="FFF6E8"/>
          </a:solidFill>
          <a:ln w="12700">
            <a:solidFill>
              <a:srgbClr val="F0D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48640" y="4251960"/>
            <a:ext cx="50292" cy="1783080"/>
          </a:xfrm>
          <a:prstGeom prst="rect">
            <a:avLst/>
          </a:prstGeom>
          <a:solidFill>
            <a:srgbClr val="E8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86384" y="4389120"/>
            <a:ext cx="10652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B26A0B"/>
                </a:solidFill>
                <a:latin typeface="맑은 고딕"/>
              </a:rPr>
              <a:t>◇ 논점 — 갈릴 수 있는 자리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4690872"/>
            <a:ext cx="10652760" cy="1216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· 「인구는 배경이지 주범이 아니다」는 이 분석의 큰 갈림길이다. 그런데 그 근거인 회귀·상관은 재현되지 않은 채로 있다.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   재적합을 다시 할 것인가? 한다면 사양(고정효과·클러스터 SE·표본)을 어디에 고정해 둘 것인가?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· +0.30을 「약하다」로 읽었다. 교당 38곳의 표본에서 +0.30은 어느 정도인가? 신뢰구간을 함께 보여야 하지 않나?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05840" y="228600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1">
                <a:solidFill>
                  <a:srgbClr val="E8602E"/>
                </a:solidFill>
                <a:latin typeface="맑은 고딕"/>
              </a:rPr>
              <a:t>4부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600" b="1">
                <a:solidFill>
                  <a:srgbClr val="312D5E"/>
                </a:solidFill>
                <a:latin typeface="맑은 고딕"/>
              </a:rPr>
              <a:t>교당 안쪽 — 담당·개설·사람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657600"/>
            <a:ext cx="9601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00" b="0">
                <a:solidFill>
                  <a:srgbClr val="4A5260"/>
                </a:solidFill>
                <a:latin typeface="맑은 고딕"/>
              </a:rPr>
              <a:t>· 담당과 개설이 같은 해에 겹친다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00" b="0">
                <a:solidFill>
                  <a:srgbClr val="4A5260"/>
                </a:solidFill>
                <a:latin typeface="맑은 고딕"/>
              </a:rPr>
              <a:t>· 세 겹의 감소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00" b="0">
                <a:solidFill>
                  <a:srgbClr val="4A5260"/>
                </a:solidFill>
                <a:latin typeface="맑은 고딕"/>
              </a:rPr>
              <a:t>· 이름은 늘고 발걸음은 줄었다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8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>
                <a:solidFill>
                  <a:srgbClr val="E8602E"/>
                </a:solidFill>
                <a:latin typeface="맑은 고딕"/>
              </a:rPr>
              <a:t>04 사슬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109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500" b="1">
                <a:solidFill>
                  <a:srgbClr val="312D5E"/>
                </a:solidFill>
                <a:latin typeface="맑은 고딕"/>
              </a:rPr>
              <a:t>담당과 개설의 사슬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33271"/>
            <a:ext cx="11109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</a:rPr>
              <a:t>38곳 · 「건」은 교당 × 법회 종류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55664"/>
            <a:ext cx="1325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000" b="1">
                <a:solidFill>
                  <a:srgbClr val="B7BCC6"/>
                </a:solidFill>
                <a:latin typeface="맑은 고딕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B7BCC6"/>
                </a:solidFill>
                <a:latin typeface="맑은 고딕"/>
              </a:rPr>
              <a:t>원불교 경기인천교구 · 세부분석 총합본 제4판 · 연구팀 논의용</a:t>
            </a:r>
          </a:p>
        </p:txBody>
      </p:sp>
      <p:pic>
        <p:nvPicPr>
          <p:cNvPr id="8" name="Picture 7" descr="f08_담당개설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035040" cy="205659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720840" y="1371600"/>
            <a:ext cx="493776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940296" y="1517904"/>
            <a:ext cx="44988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1">
                <a:solidFill>
                  <a:srgbClr val="312D5E"/>
                </a:solidFill>
                <a:latin typeface="맑은 고딕"/>
              </a:rPr>
              <a:t>확인된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0296" y="1828800"/>
            <a:ext cx="449884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00" b="0">
                <a:solidFill>
                  <a:srgbClr val="333A45"/>
                </a:solidFill>
                <a:latin typeface="맑은 고딕"/>
              </a:rPr>
              <a:t>· 담당이 사라진 122건 중 119건에서 그 해 개설도 멎었다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00" b="0">
                <a:solidFill>
                  <a:srgbClr val="333A45"/>
                </a:solidFill>
                <a:latin typeface="맑은 고딕"/>
              </a:rPr>
              <a:t>· 담당 없이 열린 사례 — 어린이 0 · 학생 2 · 청년 12건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00" b="0">
                <a:solidFill>
                  <a:srgbClr val="333A45"/>
                </a:solidFill>
                <a:latin typeface="맑은 고딕"/>
              </a:rPr>
              <a:t>· 122건 중 84건(69%)은 교무가 교당에 남았다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00" b="0">
                <a:solidFill>
                  <a:srgbClr val="333A45"/>
                </a:solidFill>
                <a:latin typeface="맑은 고딕"/>
              </a:rPr>
              <a:t>   일반법회로 59건 · 다른 청소년법회로 25건 · 떠남 38건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00" b="0">
                <a:solidFill>
                  <a:srgbClr val="333A45"/>
                </a:solidFill>
                <a:latin typeface="맑은 고딕"/>
              </a:rPr>
              <a:t>· 교무 총수 원기97 54 → 원기108 47명(−13%)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00" b="0">
                <a:solidFill>
                  <a:srgbClr val="333A45"/>
                </a:solidFill>
                <a:latin typeface="맑은 고딕"/>
              </a:rPr>
              <a:t>   청소년 담당 63 → 22건(−65%) · 교당 수로는 26 → 10곳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3886200"/>
            <a:ext cx="4937760" cy="2148840"/>
          </a:xfrm>
          <a:prstGeom prst="roundRect">
            <a:avLst>
              <a:gd name="adj" fmla="val 5000"/>
            </a:avLst>
          </a:prstGeom>
          <a:solidFill>
            <a:srgbClr val="FFF6E8"/>
          </a:solidFill>
          <a:ln w="12700">
            <a:solidFill>
              <a:srgbClr val="F0D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720840" y="3886200"/>
            <a:ext cx="50292" cy="2148840"/>
          </a:xfrm>
          <a:prstGeom prst="rect">
            <a:avLst/>
          </a:prstGeom>
          <a:solidFill>
            <a:srgbClr val="E8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958583" y="4023360"/>
            <a:ext cx="4480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B26A0B"/>
                </a:solidFill>
                <a:latin typeface="맑은 고딕"/>
              </a:rPr>
              <a:t>◇ 논점 — 갈릴 수 있는 자리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58583" y="4325112"/>
            <a:ext cx="4480560" cy="1581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· 연 단위라 선후를 못 가린다. 월 단위 인사 자료가 있으면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   가릴 수 있는가? 어디서 구하나?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· 「담당이 없으면 법회가 없다」와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   「법회가 없으니 담당을 안 둔다」는 처방이 정반대다.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   이 자료로 못 가른다는 사실을 어디까지 강조할 것인가?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· 원기109·110 교무 자료가 없다. 언제 받을 수 있나?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8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>
                <a:solidFill>
                  <a:srgbClr val="E8602E"/>
                </a:solidFill>
                <a:latin typeface="맑은 고딕"/>
              </a:rPr>
              <a:t>04 세 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109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500" b="1">
                <a:solidFill>
                  <a:srgbClr val="312D5E"/>
                </a:solidFill>
                <a:latin typeface="맑은 고딕"/>
              </a:rPr>
              <a:t>세 겹의 감소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33271"/>
            <a:ext cx="11109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</a:rPr>
              <a:t>바깥에서 안쪽으로 갈수록 커진다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55664"/>
            <a:ext cx="1325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000" b="1">
                <a:solidFill>
                  <a:srgbClr val="B7BCC6"/>
                </a:solidFill>
                <a:latin typeface="맑은 고딕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B7BCC6"/>
                </a:solidFill>
                <a:latin typeface="맑은 고딕"/>
              </a:rPr>
              <a:t>원불교 경기인천교구 · 세부분석 총합본 제4판 · 연구팀 논의용</a:t>
            </a:r>
          </a:p>
        </p:txBody>
      </p:sp>
      <p:pic>
        <p:nvPicPr>
          <p:cNvPr id="8" name="Picture 7" descr="f09_세겹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6858000" cy="211828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589520" y="1417320"/>
            <a:ext cx="406908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808976" y="1563624"/>
            <a:ext cx="36301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1">
                <a:solidFill>
                  <a:srgbClr val="312D5E"/>
                </a:solidFill>
                <a:latin typeface="맑은 고딕"/>
              </a:rPr>
              <a:t>확인된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08976" y="1874519"/>
            <a:ext cx="3630168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00" b="0">
                <a:solidFill>
                  <a:srgbClr val="333A45"/>
                </a:solidFill>
                <a:latin typeface="맑은 고딕"/>
              </a:rPr>
              <a:t>· 지역의 아이 −23.0% (시·군·구 34곳)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00" b="0">
                <a:solidFill>
                  <a:srgbClr val="333A45"/>
                </a:solidFill>
                <a:latin typeface="맑은 고딕"/>
              </a:rPr>
              <a:t>· 교단 안 유소년 교도 −50.1% (43곳)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00" b="0">
                <a:solidFill>
                  <a:srgbClr val="333A45"/>
                </a:solidFill>
                <a:latin typeface="맑은 고딕"/>
              </a:rPr>
              <a:t>· 청소년 법회 출석 −72.2% (43곳)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00" b="0">
                <a:solidFill>
                  <a:srgbClr val="333A45"/>
                </a:solidFill>
                <a:latin typeface="맑은 고딕"/>
              </a:rPr>
              <a:t>· 아이 1만 명당 유소년 교도 10.5 → 6.8명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00" b="0">
                <a:solidFill>
                  <a:srgbClr val="333A45"/>
                </a:solidFill>
                <a:latin typeface="맑은 고딕"/>
              </a:rPr>
              <a:t/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00" b="0">
                <a:solidFill>
                  <a:srgbClr val="333A45"/>
                </a:solidFill>
                <a:latin typeface="맑은 고딕"/>
              </a:rPr>
              <a:t>· 제3판은 이 그림을 38곳 계열(−23.2/−53.6/−72.0)로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00" b="0">
                <a:solidFill>
                  <a:srgbClr val="333A45"/>
                </a:solidFill>
                <a:latin typeface="맑은 고딕"/>
              </a:rPr>
              <a:t>   그렸다 — 제4판에서 43곳으로 바로잡았다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3840480"/>
            <a:ext cx="4069080" cy="2194560"/>
          </a:xfrm>
          <a:prstGeom prst="roundRect">
            <a:avLst>
              <a:gd name="adj" fmla="val 5000"/>
            </a:avLst>
          </a:prstGeom>
          <a:solidFill>
            <a:srgbClr val="FFF6E8"/>
          </a:solidFill>
          <a:ln w="12700">
            <a:solidFill>
              <a:srgbClr val="F0D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7589520" y="3840480"/>
            <a:ext cx="50292" cy="2194560"/>
          </a:xfrm>
          <a:prstGeom prst="rect">
            <a:avLst/>
          </a:prstGeom>
          <a:solidFill>
            <a:srgbClr val="E8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827264" y="3977640"/>
            <a:ext cx="3611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B26A0B"/>
                </a:solidFill>
                <a:latin typeface="맑은 고딕"/>
              </a:rPr>
              <a:t>◇ 논점 — 갈릴 수 있는 자리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27264" y="4279392"/>
            <a:ext cx="3611880" cy="1627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· 감소폭을 나란히 놓은 그림이지, 무엇이 몇 %를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   설명했는지 보여주는 그림이 아니다.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   그런데 이렇게 놓으면 인과로 읽히기 쉽다.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   그림을 바꿀 것인가, 주석으로 막을 것인가?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· 세 값의 모집단이 다르다(34곳 / 43곳 / 43곳).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   같은 축에 놓아도 되는가?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8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>
                <a:solidFill>
                  <a:srgbClr val="E8602E"/>
                </a:solidFill>
                <a:latin typeface="맑은 고딕"/>
              </a:rPr>
              <a:t>04 명부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109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500" b="1">
                <a:solidFill>
                  <a:srgbClr val="312D5E"/>
                </a:solidFill>
                <a:latin typeface="맑은 고딕"/>
              </a:rPr>
              <a:t>이름은 늘고 발걸음은 줄었다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33271"/>
            <a:ext cx="11109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</a:rPr>
              <a:t>명부는 누적 장부다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55664"/>
            <a:ext cx="1325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000" b="1">
                <a:solidFill>
                  <a:srgbClr val="B7BCC6"/>
                </a:solidFill>
                <a:latin typeface="맑은 고딕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B7BCC6"/>
                </a:solidFill>
                <a:latin typeface="맑은 고딕"/>
              </a:rPr>
              <a:t>원불교 경기인천교구 · 세부분석 총합본 제4판 · 연구팀 논의용</a:t>
            </a:r>
          </a:p>
        </p:txBody>
      </p:sp>
      <p:pic>
        <p:nvPicPr>
          <p:cNvPr id="8" name="Picture 7" descr="f10_명부관리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5760720" cy="2391878"/>
          </a:xfrm>
          <a:prstGeom prst="rect">
            <a:avLst/>
          </a:prstGeom>
        </p:spPr>
      </p:pic>
      <p:pic>
        <p:nvPicPr>
          <p:cNvPr id="9" name="Picture 8" descr="f11_1인당출석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371600"/>
            <a:ext cx="5303520" cy="219076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48640" y="4297680"/>
            <a:ext cx="576072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68096" y="4443984"/>
            <a:ext cx="53218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1">
                <a:solidFill>
                  <a:srgbClr val="312D5E"/>
                </a:solidFill>
                <a:latin typeface="맑은 고딕"/>
              </a:rPr>
              <a:t>확인된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4754880"/>
            <a:ext cx="532180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950" b="0">
                <a:solidFill>
                  <a:srgbClr val="333A45"/>
                </a:solidFill>
                <a:latin typeface="맑은 고딕"/>
              </a:rPr>
              <a:t>· 명부 15,305 → 19,748명(38곳) · 늘어난 4,443명은 사실상 전부 미관리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950" b="0">
                <a:solidFill>
                  <a:srgbClr val="333A45"/>
                </a:solidFill>
                <a:latin typeface="맑은 고딕"/>
              </a:rPr>
              <a:t>· 관리 8,355 → 8,178명 제자리 · 미관리 6,676 → 11,570명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950" b="0">
                <a:solidFill>
                  <a:srgbClr val="333A45"/>
                </a:solidFill>
                <a:latin typeface="맑은 고딕"/>
              </a:rPr>
              <a:t>· 역전은 원기108년(원기107까지 관리 9,886 &gt; 미관리 9,249)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950" b="0">
                <a:solidFill>
                  <a:srgbClr val="333A45"/>
                </a:solidFill>
                <a:latin typeface="맑은 고딕"/>
              </a:rPr>
              <a:t>· 성인 1인당 일반법회 출석 5.8 → 3.4회(−42%)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950" b="0">
                <a:solidFill>
                  <a:srgbClr val="333A45"/>
                </a:solidFill>
                <a:latin typeface="맑은 고딕"/>
              </a:rPr>
              <a:t>· 명부 20,354명 중 원기110 출석 기록 있는 분 2,569명(12.6%)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82512" y="4297680"/>
            <a:ext cx="5276088" cy="1737360"/>
          </a:xfrm>
          <a:prstGeom prst="roundRect">
            <a:avLst>
              <a:gd name="adj" fmla="val 5000"/>
            </a:avLst>
          </a:prstGeom>
          <a:solidFill>
            <a:srgbClr val="FFF6E8"/>
          </a:solidFill>
          <a:ln w="12700">
            <a:solidFill>
              <a:srgbClr val="F0D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382512" y="4297680"/>
            <a:ext cx="50292" cy="1737360"/>
          </a:xfrm>
          <a:prstGeom prst="rect">
            <a:avLst/>
          </a:prstGeom>
          <a:solidFill>
            <a:srgbClr val="E8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620256" y="4434840"/>
            <a:ext cx="481888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B26A0B"/>
                </a:solidFill>
                <a:latin typeface="맑은 고딕"/>
              </a:rPr>
              <a:t>◇ 논점 — 갈릴 수 있는 자리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0256" y="4736592"/>
            <a:ext cx="4818888" cy="11704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· 원기108·109 사이가 자료 접합부다(관리 −533·미관리 +739 재분류).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   역전이 실제 변화인가, 재분류의 산물인가?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· 「미관리」의 정의가 14년 내내 같았는가?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   스냅샷(20260730) 시점 속성이라는 한계가 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8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>
                <a:solidFill>
                  <a:srgbClr val="E8602E"/>
                </a:solidFill>
                <a:latin typeface="맑은 고딕"/>
              </a:rPr>
              <a:t>04 교화단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109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500" b="1">
                <a:solidFill>
                  <a:srgbClr val="312D5E"/>
                </a:solidFill>
                <a:latin typeface="맑은 고딕"/>
              </a:rPr>
              <a:t>교화단 — 챙기는 단위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33271"/>
            <a:ext cx="11109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</a:rPr>
              <a:t>명부와 정반대 방향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55664"/>
            <a:ext cx="1325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000" b="1">
                <a:solidFill>
                  <a:srgbClr val="B7BCC6"/>
                </a:solidFill>
                <a:latin typeface="맑은 고딕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B7BCC6"/>
                </a:solidFill>
                <a:latin typeface="맑은 고딕"/>
              </a:rPr>
              <a:t>원불교 경기인천교구 · 세부분석 총합본 제4판 · 연구팀 논의용</a:t>
            </a:r>
          </a:p>
        </p:txBody>
      </p:sp>
      <p:pic>
        <p:nvPicPr>
          <p:cNvPr id="8" name="Picture 7" descr="f12_교화단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6766560" cy="280950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98079" y="1417320"/>
            <a:ext cx="416052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17536" y="1563624"/>
            <a:ext cx="37216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1">
                <a:solidFill>
                  <a:srgbClr val="312D5E"/>
                </a:solidFill>
                <a:latin typeface="맑은 고딕"/>
              </a:rPr>
              <a:t>확인된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7536" y="1874519"/>
            <a:ext cx="37216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맑은 고딕"/>
              </a:rPr>
              <a:t>42곳 · 경기판교 기록 없음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7536" y="2130552"/>
            <a:ext cx="3721608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00" b="0">
                <a:solidFill>
                  <a:srgbClr val="333A45"/>
                </a:solidFill>
                <a:latin typeface="맑은 고딕"/>
              </a:rPr>
              <a:t>· 교화단원 4,854 → 3,664명 (−24.5%)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00" b="0">
                <a:solidFill>
                  <a:srgbClr val="333A45"/>
                </a:solidFill>
                <a:latin typeface="맑은 고딕"/>
              </a:rPr>
              <a:t>· 교화단 422 → 340개 (−19.4%)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00" b="0">
                <a:solidFill>
                  <a:srgbClr val="333A45"/>
                </a:solidFill>
                <a:latin typeface="맑은 고딕"/>
              </a:rPr>
              <a:t>· 구분별 — 일반 3,402→2,796 · 학생 401→143 · 어린이 500→238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00" b="0">
                <a:solidFill>
                  <a:srgbClr val="333A45"/>
                </a:solidFill>
                <a:latin typeface="맑은 고딕"/>
              </a:rPr>
              <a:t>   비율로는 학생·어린이가 절반 아래로 더 크게 줄었다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00" b="0">
                <a:solidFill>
                  <a:srgbClr val="333A45"/>
                </a:solidFill>
                <a:latin typeface="맑은 고딕"/>
              </a:rPr>
              <a:t/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00" b="0">
                <a:solidFill>
                  <a:srgbClr val="333A45"/>
                </a:solidFill>
                <a:latin typeface="맑은 고딕"/>
              </a:rPr>
              <a:t>· 원기111은 연간 추세에서 뺐다(연중 미완결)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3931920"/>
            <a:ext cx="4160520" cy="2103120"/>
          </a:xfrm>
          <a:prstGeom prst="roundRect">
            <a:avLst>
              <a:gd name="adj" fmla="val 5000"/>
            </a:avLst>
          </a:prstGeom>
          <a:solidFill>
            <a:srgbClr val="FFF6E8"/>
          </a:solidFill>
          <a:ln w="12700">
            <a:solidFill>
              <a:srgbClr val="F0D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498079" y="3931920"/>
            <a:ext cx="50292" cy="2103120"/>
          </a:xfrm>
          <a:prstGeom prst="rect">
            <a:avLst/>
          </a:prstGeom>
          <a:solidFill>
            <a:srgbClr val="E8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735823" y="4069080"/>
            <a:ext cx="3703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B26A0B"/>
                </a:solidFill>
                <a:latin typeface="맑은 고딕"/>
              </a:rPr>
              <a:t>◇ 논점 — 갈릴 수 있는 자리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35823" y="4370831"/>
            <a:ext cx="3703320" cy="15361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· 교화단원 감소와 청소년 법회 소멸이 같은 자리에서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   일어났다. 둘은 같은 현상의 두 얼굴인가,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   아니면 한쪽이 다른 쪽을 끌었는가?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· 교화단원 정의가 교당마다 같은가?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   PDF를 그대로 옮긴 자료라 입력 관행 차이가 있을 수 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05840" y="228600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1">
                <a:solidFill>
                  <a:srgbClr val="E8602E"/>
                </a:solidFill>
                <a:latin typeface="맑은 고딕"/>
              </a:rPr>
              <a:t>5부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600" b="1">
                <a:solidFill>
                  <a:srgbClr val="312D5E"/>
                </a:solidFill>
                <a:latin typeface="맑은 고딕"/>
              </a:rPr>
              <a:t>지금 떠받치는 사람들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657600"/>
            <a:ext cx="9601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00" b="0">
                <a:solidFill>
                  <a:srgbClr val="4A5260"/>
                </a:solidFill>
                <a:latin typeface="맑은 고딕"/>
              </a:rPr>
              <a:t>· 층 구조와 나이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00" b="0">
                <a:solidFill>
                  <a:srgbClr val="4A5260"/>
                </a:solidFill>
                <a:latin typeface="맑은 고딕"/>
              </a:rPr>
              <a:t>· 434분을 개인 단위로 따라간 결과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00" b="0">
                <a:solidFill>
                  <a:srgbClr val="4A5260"/>
                </a:solidFill>
                <a:latin typeface="맑은 고딕"/>
              </a:rPr>
              <a:t>· 사다리의 첫 칸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8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>
                <a:solidFill>
                  <a:srgbClr val="E8602E"/>
                </a:solidFill>
                <a:latin typeface="맑은 고딕"/>
              </a:rPr>
              <a:t>05 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109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500" b="1">
                <a:solidFill>
                  <a:srgbClr val="312D5E"/>
                </a:solidFill>
                <a:latin typeface="맑은 고딕"/>
              </a:rPr>
              <a:t>층 구조와 나이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33271"/>
            <a:ext cx="11109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</a:rPr>
              <a:t>자주 나오실수록 나이가 많다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55664"/>
            <a:ext cx="1325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000" b="1">
                <a:solidFill>
                  <a:srgbClr val="B7BCC6"/>
                </a:solidFill>
                <a:latin typeface="맑은 고딕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B7BCC6"/>
                </a:solidFill>
                <a:latin typeface="맑은 고딕"/>
              </a:rPr>
              <a:t>원불교 경기인천교구 · 세부분석 총합본 제4판 · 연구팀 논의용</a:t>
            </a:r>
          </a:p>
        </p:txBody>
      </p:sp>
      <p:pic>
        <p:nvPicPr>
          <p:cNvPr id="8" name="Picture 7" descr="f13_층별나이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5669280" cy="1811397"/>
          </a:xfrm>
          <a:prstGeom prst="rect">
            <a:avLst/>
          </a:prstGeom>
        </p:spPr>
      </p:pic>
      <p:pic>
        <p:nvPicPr>
          <p:cNvPr id="9" name="Picture 8" descr="f14_나이구성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5486400" cy="228089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48640" y="4206240"/>
            <a:ext cx="56692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68096" y="4352544"/>
            <a:ext cx="52303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1">
                <a:solidFill>
                  <a:srgbClr val="312D5E"/>
                </a:solidFill>
                <a:latin typeface="맑은 고딕"/>
              </a:rPr>
              <a:t>확인된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4663440"/>
            <a:ext cx="523036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00" b="0">
                <a:solidFill>
                  <a:srgbClr val="333A45"/>
                </a:solidFill>
                <a:latin typeface="맑은 고딕"/>
              </a:rPr>
              <a:t>· 실인원 −24% · 매주 −8% · 가끔 −36%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00" b="0">
                <a:solidFill>
                  <a:srgbClr val="333A45"/>
                </a:solidFill>
                <a:latin typeface="맑은 고딕"/>
              </a:rPr>
              <a:t>· 매주층 나이 중앙값 61 → 68세 (10년에 7살)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00" b="0">
                <a:solidFill>
                  <a:srgbClr val="333A45"/>
                </a:solidFill>
                <a:latin typeface="맑은 고딕"/>
              </a:rPr>
              <a:t>· 원기110 매주층 739분 중 53%가 10년 전에도 매주층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00" b="0">
                <a:solidFill>
                  <a:srgbClr val="333A45"/>
                </a:solidFill>
                <a:latin typeface="맑은 고딕"/>
              </a:rPr>
              <a:t>   최근 5년 새 얼굴 출신 4%(27분)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00" b="0">
                <a:solidFill>
                  <a:srgbClr val="333A45"/>
                </a:solidFill>
                <a:latin typeface="맑은 고딕"/>
              </a:rPr>
              <a:t>· 60세 이상만 늘었다(821 → 1,315명)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420624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FFF6E8"/>
          </a:solidFill>
          <a:ln w="12700">
            <a:solidFill>
              <a:srgbClr val="F0D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355080" y="4206240"/>
            <a:ext cx="50292" cy="1828800"/>
          </a:xfrm>
          <a:prstGeom prst="rect">
            <a:avLst/>
          </a:prstGeom>
          <a:solidFill>
            <a:srgbClr val="E8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92824" y="4343400"/>
            <a:ext cx="4846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B26A0B"/>
                </a:solidFill>
                <a:latin typeface="맑은 고딕"/>
              </a:rPr>
              <a:t>◇ 논점 — 갈릴 수 있는 자리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2824" y="4645152"/>
            <a:ext cx="4846320" cy="1261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· 층 경계(40 / 20 / 12회)는 분석용 정의다.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   경계를 옮기면 −8%/−36%가 얼마나 흔들리는가?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· 실인원·층별 인원은 재현 불가로 남아 있다.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   (원기100 원고 3,355 대 재계산 3,611)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   조건을 확정하고 다시 낼 것인가?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8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>
                <a:solidFill>
                  <a:srgbClr val="E8602E"/>
                </a:solidFill>
                <a:latin typeface="맑은 고딕"/>
              </a:rPr>
              <a:t>05 추적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109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500" b="1">
                <a:solidFill>
                  <a:srgbClr val="312D5E"/>
                </a:solidFill>
                <a:latin typeface="맑은 고딕"/>
              </a:rPr>
              <a:t>434분을 따라가면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33271"/>
            <a:ext cx="11109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</a:rPr>
              <a:t>빠르게 줄어든 11곳의 옛 매주층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55664"/>
            <a:ext cx="1325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000" b="1">
                <a:solidFill>
                  <a:srgbClr val="B7BCC6"/>
                </a:solidFill>
                <a:latin typeface="맑은 고딕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B7BCC6"/>
                </a:solidFill>
                <a:latin typeface="맑은 고딕"/>
              </a:rPr>
              <a:t>원불교 경기인천교구 · 세부분석 총합본 제4판 · 연구팀 논의용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603504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68096" y="1609344"/>
            <a:ext cx="559612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1">
                <a:solidFill>
                  <a:srgbClr val="312D5E"/>
                </a:solidFill>
                <a:latin typeface="맑은 고딕"/>
              </a:rPr>
              <a:t>확인된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20240"/>
            <a:ext cx="559612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맑은 고딕"/>
              </a:rPr>
              <a:t>원기100~104에 연 40회 이상 나오신 434분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176272"/>
            <a:ext cx="5596127" cy="20299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· 79%(341분)는 같은 교당에 계속 나오신다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     — 그 가운데 67%가 빈도를 낮추셨다(매주 → 격주 이하)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· 도장이 끊긴 분 86분(20%)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     — 열반 32분 · 명부에 있으나 발길 끊김 54분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     — 끊긴 시점이 원기101~107에 흩어져 있다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· 다른 교당으로 옮기신 분 8분(2%)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/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· 버틴 6곳 — 242분 중 26분(11%)만 끊겼고 그중 42%가 열반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· 빠르게 준 11곳 매주층 −50% · 버틴 6곳 +19.7%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1463040"/>
            <a:ext cx="4937760" cy="2926080"/>
          </a:xfrm>
          <a:prstGeom prst="roundRect">
            <a:avLst>
              <a:gd name="adj" fmla="val 5000"/>
            </a:avLst>
          </a:prstGeom>
          <a:solidFill>
            <a:srgbClr val="FFF6E8"/>
          </a:solidFill>
          <a:ln w="12700">
            <a:solidFill>
              <a:srgbClr val="F0D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720840" y="1463040"/>
            <a:ext cx="50292" cy="2926080"/>
          </a:xfrm>
          <a:prstGeom prst="rect">
            <a:avLst/>
          </a:prstGeom>
          <a:solidFill>
            <a:srgbClr val="E8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958583" y="1600200"/>
            <a:ext cx="4480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B26A0B"/>
                </a:solidFill>
                <a:latin typeface="맑은 고딕"/>
              </a:rPr>
              <a:t>◇ 논점 — 갈릴 수 있는 자리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58583" y="1901952"/>
            <a:ext cx="4480560" cy="2359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· 「떠난 것이 아니라 덜 나오게 되었다」가 이 분석의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   가장 강한 개인 단위 발견이다.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   그런데 왜 덜 나오시는지는 자료 밖이다.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   면접·설문으로 갈 것인가? 그 설계는 누가 하나?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/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· 11곳과 6곳의 분류 기준(유형 지도)은 동결 산출물이고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   감사가 재현하지 못했다. 분류가 달라지면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   −50% 대 +19.7%의 대비도 달라진다.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/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· 「빈도를 낮췄다」의 기준이 매주→격주 이하다.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   다른 기준이면 67%가 얼마나 바뀌는가?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26280"/>
            <a:ext cx="11109960" cy="1508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68096" y="4672584"/>
            <a:ext cx="106710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1">
                <a:solidFill>
                  <a:srgbClr val="312D5E"/>
                </a:solidFill>
                <a:latin typeface="맑은 고딕"/>
              </a:rPr>
              <a:t>교구 전체의 「매주층 −8% 안정」은 무엇이었나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4983480"/>
            <a:ext cx="106710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빠르게 줄어든 11곳의 −50%와 버틴 6곳의 +19.7%가 상쇄된 결과다. 교구 합계만 보면 안정으로 보이지만, 그 안에서는 큰 교당의 붕괴와 작은 교당의 성장이 맞물려 있었다.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050" b="0">
                <a:solidFill>
                  <a:srgbClr val="333A45"/>
                </a:solidFill>
                <a:latin typeface="맑은 고딕"/>
              </a:rPr>
              <a:t>원기97년에 컸던 교당이 빠르게 줄었다 — 규모 중앙값 2,878명 대 1,193명.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05840" y="228600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1">
                <a:solidFill>
                  <a:srgbClr val="E8602E"/>
                </a:solidFill>
                <a:latin typeface="맑은 고딕"/>
              </a:rPr>
              <a:t>6부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600" b="1">
                <a:solidFill>
                  <a:srgbClr val="312D5E"/>
                </a:solidFill>
                <a:latin typeface="맑은 고딕"/>
              </a:rPr>
              <a:t>재정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657600"/>
            <a:ext cx="9601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00" b="0">
                <a:solidFill>
                  <a:srgbClr val="4A5260"/>
                </a:solidFill>
                <a:latin typeface="맑은 고딕"/>
              </a:rPr>
              <a:t>· 물가를 감안하면 그림이 바뀐다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00" b="0">
                <a:solidFill>
                  <a:srgbClr val="4A5260"/>
                </a:solidFill>
                <a:latin typeface="맑은 고딕"/>
              </a:rPr>
              <a:t>· 감소는 고르지 않았다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00" b="0">
                <a:solidFill>
                  <a:srgbClr val="4A5260"/>
                </a:solidFill>
                <a:latin typeface="맑은 고딕"/>
              </a:rPr>
              <a:t>· 출석과 재정 사이에 인과를 놓지 않는 이유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8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>
                <a:solidFill>
                  <a:srgbClr val="E8602E"/>
                </a:solidFill>
                <a:latin typeface="맑은 고딕"/>
              </a:rPr>
              <a:t>06 재정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109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500" b="1">
                <a:solidFill>
                  <a:srgbClr val="312D5E"/>
                </a:solidFill>
                <a:latin typeface="맑은 고딕"/>
              </a:rPr>
              <a:t>재정 — 장부와 실질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33271"/>
            <a:ext cx="11109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</a:rPr>
              <a:t>37곳 · 실질은 원기110년 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55664"/>
            <a:ext cx="1325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000" b="1">
                <a:solidFill>
                  <a:srgbClr val="B7BCC6"/>
                </a:solidFill>
                <a:latin typeface="맑은 고딕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B7BCC6"/>
                </a:solidFill>
                <a:latin typeface="맑은 고딕"/>
              </a:rPr>
              <a:t>원불교 경기인천교구 · 세부분석 총합본 제4판 · 연구팀 논의용</a:t>
            </a:r>
          </a:p>
        </p:txBody>
      </p:sp>
      <p:pic>
        <p:nvPicPr>
          <p:cNvPr id="8" name="Picture 7" descr="f15_재정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5943600" cy="213919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629400" y="1371600"/>
            <a:ext cx="502920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48856" y="1517904"/>
            <a:ext cx="459028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1">
                <a:solidFill>
                  <a:srgbClr val="312D5E"/>
                </a:solidFill>
                <a:latin typeface="맑은 고딕"/>
              </a:rPr>
              <a:t>확인된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48856" y="1828800"/>
            <a:ext cx="45902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맑은 고딕"/>
              </a:rPr>
              <a:t>감사에서 13개 값 전부 재현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8856" y="2084832"/>
            <a:ext cx="4590288" cy="1572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950" b="0">
                <a:solidFill>
                  <a:srgbClr val="333A45"/>
                </a:solidFill>
                <a:latin typeface="맑은 고딕"/>
              </a:rPr>
              <a:t>· 명목 46.8 → 47.4억 · 실질 59.5 → 47.4억(−12.1억 · −20.3%)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950" b="0">
                <a:solidFill>
                  <a:srgbClr val="333A45"/>
                </a:solidFill>
                <a:latin typeface="맑은 고딕"/>
              </a:rPr>
              <a:t>· 교화사업비(실질) 7.0 → 8.8억 (+26.6%)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950" b="0">
                <a:solidFill>
                  <a:srgbClr val="333A45"/>
                </a:solidFill>
                <a:latin typeface="맑은 고딕"/>
              </a:rPr>
              <a:t>· 총지출 대비 비중 15.7 → 16.1% · 원기100년 24.4% 봉우리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950" b="0">
                <a:solidFill>
                  <a:srgbClr val="333A45"/>
                </a:solidFill>
                <a:latin typeface="맑은 고딕"/>
              </a:rPr>
              <a:t>· 감소 20곳 / 증가 17곳 · 중앙값 −2.5% · 0.5억 미만 감소 12곳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950" b="0">
                <a:solidFill>
                  <a:srgbClr val="333A45"/>
                </a:solidFill>
                <a:latin typeface="맑은 고딕"/>
              </a:rPr>
              <a:t>· 수입 준 20곳 중 14곳이 비중↑, 11곳은 금액도↑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950" b="0">
                <a:solidFill>
                  <a:srgbClr val="333A45"/>
                </a:solidFill>
                <a:latin typeface="맑은 고딕"/>
              </a:rPr>
              <a:t>   다만 그 20곳 합계는 5.2 → 5.1억(−2.2%) — 「지킨 것」에 가깝다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29400" y="3977639"/>
            <a:ext cx="5029200" cy="2057400"/>
          </a:xfrm>
          <a:prstGeom prst="roundRect">
            <a:avLst>
              <a:gd name="adj" fmla="val 5000"/>
            </a:avLst>
          </a:prstGeom>
          <a:solidFill>
            <a:srgbClr val="FFF6E8"/>
          </a:solidFill>
          <a:ln w="12700">
            <a:solidFill>
              <a:srgbClr val="F0D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629400" y="3977639"/>
            <a:ext cx="50292" cy="2057400"/>
          </a:xfrm>
          <a:prstGeom prst="rect">
            <a:avLst/>
          </a:prstGeom>
          <a:solidFill>
            <a:srgbClr val="E8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867144" y="411480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B26A0B"/>
                </a:solidFill>
                <a:latin typeface="맑은 고딕"/>
              </a:rPr>
              <a:t>◇ 논점 — 갈릴 수 있는 자리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7144" y="4416552"/>
            <a:ext cx="4572000" cy="1490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· 경상수입 정의는 헌공금 + 전입및보조금이다.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   교당 간·기관 간 이전이 포함될 수 있는 정의다.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   교구 합계를 말할 때 상계를 어떻게 다룰 것인가?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· 출석 −19.9%와 수입 −20.3%가 비슷하다.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   이 우연을 어떻게 다룰 것인가?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050" b="0">
                <a:solidFill>
                  <a:srgbClr val="4A4033"/>
                </a:solidFill>
                <a:latin typeface="맑은 고딕"/>
              </a:rPr>
              <a:t>   지금은 둘 사이에 인과를 놓지 않았다.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05840" y="228600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1">
                <a:solidFill>
                  <a:srgbClr val="E8602E"/>
                </a:solidFill>
                <a:latin typeface="맑은 고딕"/>
              </a:rPr>
              <a:t>7부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600" b="1">
                <a:solidFill>
                  <a:srgbClr val="312D5E"/>
                </a:solidFill>
                <a:latin typeface="맑은 고딕"/>
              </a:rPr>
              <a:t>남은 것 — 다음 분석의 후보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657600"/>
            <a:ext cx="9601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00" b="0">
                <a:solidFill>
                  <a:srgbClr val="4A5260"/>
                </a:solidFill>
                <a:latin typeface="맑은 고딕"/>
              </a:rPr>
              <a:t>· 이 자료로 답하지 못한 물음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00" b="0">
                <a:solidFill>
                  <a:srgbClr val="4A5260"/>
                </a:solidFill>
                <a:latin typeface="맑은 고딕"/>
              </a:rPr>
              <a:t>· 무엇을 더 받아야 하는가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00" b="0">
                <a:solidFill>
                  <a:srgbClr val="4A5260"/>
                </a:solidFill>
                <a:latin typeface="맑은 고딕"/>
              </a:rPr>
              <a:t>· 우선순위를 정하는 자리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8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>
                <a:solidFill>
                  <a:srgbClr val="E8602E"/>
                </a:solidFill>
                <a:latin typeface="맑은 고딕"/>
              </a:rPr>
              <a:t>07 남은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109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500" b="1">
                <a:solidFill>
                  <a:srgbClr val="312D5E"/>
                </a:solidFill>
                <a:latin typeface="맑은 고딕"/>
              </a:rPr>
              <a:t>남는 질문 여섯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33271"/>
            <a:ext cx="11109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</a:rPr>
              <a:t>성격이 서로 다르다 — 섞어 다루지 않는다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55664"/>
            <a:ext cx="1325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000" b="1">
                <a:solidFill>
                  <a:srgbClr val="B7BCC6"/>
                </a:solidFill>
                <a:latin typeface="맑은 고딕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B7BCC6"/>
                </a:solidFill>
                <a:latin typeface="맑은 고딕"/>
              </a:rPr>
              <a:t>원불교 경기인천교구 · 세부분석 총합본 제4판 · 연구팀 논의용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81328"/>
            <a:ext cx="11109960" cy="6400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481328"/>
            <a:ext cx="54864" cy="640080"/>
          </a:xfrm>
          <a:prstGeom prst="rect">
            <a:avLst/>
          </a:prstGeom>
          <a:solidFill>
            <a:srgbClr val="E8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8" y="1572768"/>
            <a:ext cx="7680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1">
                <a:solidFill>
                  <a:srgbClr val="312D5E"/>
                </a:solidFill>
                <a:latin typeface="맑은 고딕"/>
              </a:rPr>
              <a:t>안성의 기록과 현장 인상의 차이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1572768"/>
            <a:ext cx="2834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E8602E"/>
                </a:solidFill>
                <a:latin typeface="맑은 고딕"/>
              </a:rPr>
              <a:t>현장 확인이 필요하다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240280"/>
            <a:ext cx="11109960" cy="6400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48640" y="2240280"/>
            <a:ext cx="54864" cy="640080"/>
          </a:xfrm>
          <a:prstGeom prst="rect">
            <a:avLst/>
          </a:prstGeom>
          <a:solidFill>
            <a:srgbClr val="E8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8" y="2331720"/>
            <a:ext cx="7680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1">
                <a:solidFill>
                  <a:srgbClr val="312D5E"/>
                </a:solidFill>
                <a:latin typeface="맑은 고딕"/>
              </a:rPr>
              <a:t>원기106년에 개설 기록이 갑자기 늘어난 이유(비대면으로 짐작)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331720"/>
            <a:ext cx="2834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E8602E"/>
                </a:solidFill>
                <a:latin typeface="맑은 고딕"/>
              </a:rPr>
              <a:t>확인이 필요하다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999232"/>
            <a:ext cx="11109960" cy="6400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48640" y="2999232"/>
            <a:ext cx="54864" cy="640080"/>
          </a:xfrm>
          <a:prstGeom prst="rect">
            <a:avLst/>
          </a:prstGeom>
          <a:solidFill>
            <a:srgbClr val="E8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8" y="3090672"/>
            <a:ext cx="7680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1">
                <a:solidFill>
                  <a:srgbClr val="312D5E"/>
                </a:solidFill>
                <a:latin typeface="맑은 고딕"/>
              </a:rPr>
              <a:t>교무 총수와 교화단원 수의 원기109·110년 자료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090672"/>
            <a:ext cx="2834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E8602E"/>
                </a:solidFill>
                <a:latin typeface="맑은 고딕"/>
              </a:rPr>
              <a:t>자료를 더 받아야 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758183"/>
            <a:ext cx="11109960" cy="6400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48640" y="3758183"/>
            <a:ext cx="54864" cy="640080"/>
          </a:xfrm>
          <a:prstGeom prst="rect">
            <a:avLst/>
          </a:prstGeom>
          <a:solidFill>
            <a:srgbClr val="E8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8" y="3849623"/>
            <a:ext cx="7680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1">
                <a:solidFill>
                  <a:srgbClr val="312D5E"/>
                </a:solidFill>
                <a:latin typeface="맑은 고딕"/>
              </a:rPr>
              <a:t>급지6 교당별 분해 · ①칸 12곳의 코로나 전후 분해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3849623"/>
            <a:ext cx="2834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E8602E"/>
                </a:solidFill>
                <a:latin typeface="맑은 고딕"/>
              </a:rPr>
              <a:t>분석을 더 해야 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517136"/>
            <a:ext cx="11109960" cy="6400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548640" y="4517136"/>
            <a:ext cx="54864" cy="640080"/>
          </a:xfrm>
          <a:prstGeom prst="rect">
            <a:avLst/>
          </a:prstGeom>
          <a:solidFill>
            <a:srgbClr val="E8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8" y="4608575"/>
            <a:ext cx="7680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1">
                <a:solidFill>
                  <a:srgbClr val="312D5E"/>
                </a:solidFill>
                <a:latin typeface="맑은 고딕"/>
              </a:rPr>
              <a:t>왜 아이들이 지역 인구보다 두 배 넘게 빨리 줄었나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4608575"/>
            <a:ext cx="2834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E8602E"/>
                </a:solidFill>
                <a:latin typeface="맑은 고딕"/>
              </a:rPr>
              <a:t>분석을 더 해야 한다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276088"/>
            <a:ext cx="11109960" cy="6400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548640" y="5276088"/>
            <a:ext cx="54864" cy="640080"/>
          </a:xfrm>
          <a:prstGeom prst="rect">
            <a:avLst/>
          </a:prstGeom>
          <a:solidFill>
            <a:srgbClr val="E8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8" y="5367527"/>
            <a:ext cx="7680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1">
                <a:solidFill>
                  <a:srgbClr val="312D5E"/>
                </a:solidFill>
                <a:latin typeface="맑은 고딕"/>
              </a:rPr>
              <a:t>자주 나오시는 층이 덜 나오게 된 이유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5367527"/>
            <a:ext cx="2834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E8602E"/>
                </a:solidFill>
                <a:latin typeface="맑은 고딕"/>
              </a:rPr>
              <a:t>지금 자료로는 판정할 수 없다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126479"/>
            <a:ext cx="11109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8A9099"/>
                </a:solidFill>
                <a:latin typeface="맑은 고딕"/>
              </a:rPr>
              <a:t>「그러므로 무엇을 하자」는 이 자료의 몫이 아니다 — 규약 5-1. 다만 「무엇을 더 봐야 하는가」는 이 자리의 몫이다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8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>
                <a:solidFill>
                  <a:srgbClr val="E8602E"/>
                </a:solidFill>
                <a:latin typeface="맑은 고딕"/>
              </a:rPr>
              <a:t>07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109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500" b="1">
                <a:solidFill>
                  <a:srgbClr val="312D5E"/>
                </a:solidFill>
                <a:latin typeface="맑은 고딕"/>
              </a:rPr>
              <a:t>논의를 위한 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33271"/>
            <a:ext cx="11109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</a:rPr>
              <a:t>이 자료가 답한 것과 답하지 못한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55664"/>
            <a:ext cx="1325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000" b="1">
                <a:solidFill>
                  <a:srgbClr val="B7BCC6"/>
                </a:solidFill>
                <a:latin typeface="맑은 고딕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B7BCC6"/>
                </a:solidFill>
                <a:latin typeface="맑은 고딕"/>
              </a:rPr>
              <a:t>원불교 경기인천교구 · 세부분석 총합본 제4판 · 연구팀 논의용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548640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68096" y="1609344"/>
            <a:ext cx="504748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1">
                <a:solidFill>
                  <a:srgbClr val="312D5E"/>
                </a:solidFill>
                <a:latin typeface="맑은 고딕"/>
              </a:rPr>
              <a:t>답한 것 — 재현으로 확인됨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20240"/>
            <a:ext cx="50474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맑은 고딕"/>
              </a:rPr>
              <a:t>감사에서 원자료로 다시 계산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176272"/>
            <a:ext cx="5047488" cy="36758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Aft>
                <a:spcPts val="600"/>
              </a:spcAft>
            </a:pPr>
            <a:r>
              <a:rPr sz="1100" b="0">
                <a:solidFill>
                  <a:srgbClr val="333A45"/>
                </a:solidFill>
                <a:latin typeface="맑은 고딕"/>
              </a:rPr>
              <a:t>· 총량과 그 속도 (43곳·38곳 모두)</a:t>
            </a:r>
          </a:p>
          <a:p>
            <a:pPr algn="l">
              <a:lnSpc>
                <a:spcPct val="142000"/>
              </a:lnSpc>
              <a:spcAft>
                <a:spcPts val="600"/>
              </a:spcAft>
            </a:pPr>
            <a:r>
              <a:rPr sz="1100" b="0">
                <a:solidFill>
                  <a:srgbClr val="333A45"/>
                </a:solidFill>
                <a:latin typeface="맑은 고딕"/>
              </a:rPr>
              <a:t>· 감소를 두 몫으로 나눈 결과 (55 / 44)</a:t>
            </a:r>
          </a:p>
          <a:p>
            <a:pPr algn="l">
              <a:lnSpc>
                <a:spcPct val="142000"/>
              </a:lnSpc>
              <a:spcAft>
                <a:spcPts val="600"/>
              </a:spcAft>
            </a:pPr>
            <a:r>
              <a:rPr sz="1100" b="0">
                <a:solidFill>
                  <a:srgbClr val="333A45"/>
                </a:solidFill>
                <a:latin typeface="맑은 고딕"/>
              </a:rPr>
              <a:t>· 법회 종류별 감소의 크기와 시점</a:t>
            </a:r>
          </a:p>
          <a:p>
            <a:pPr algn="l">
              <a:lnSpc>
                <a:spcPct val="142000"/>
              </a:lnSpc>
              <a:spcAft>
                <a:spcPts val="600"/>
              </a:spcAft>
            </a:pPr>
            <a:r>
              <a:rPr sz="1100" b="0">
                <a:solidFill>
                  <a:srgbClr val="333A45"/>
                </a:solidFill>
                <a:latin typeface="맑은 고딕"/>
              </a:rPr>
              <a:t>· 인구의 방향 — 늘었고, 출석은 줄었다</a:t>
            </a:r>
          </a:p>
          <a:p>
            <a:pPr algn="l">
              <a:lnSpc>
                <a:spcPct val="142000"/>
              </a:lnSpc>
              <a:spcAft>
                <a:spcPts val="600"/>
              </a:spcAft>
            </a:pPr>
            <a:r>
              <a:rPr sz="1100" b="0">
                <a:solidFill>
                  <a:srgbClr val="333A45"/>
                </a:solidFill>
                <a:latin typeface="맑은 고딕"/>
              </a:rPr>
              <a:t>· 담당과 개설이 같은 해에 겹친다는 사실</a:t>
            </a:r>
          </a:p>
          <a:p>
            <a:pPr algn="l">
              <a:lnSpc>
                <a:spcPct val="142000"/>
              </a:lnSpc>
              <a:spcAft>
                <a:spcPts val="600"/>
              </a:spcAft>
            </a:pPr>
            <a:r>
              <a:rPr sz="1100" b="0">
                <a:solidFill>
                  <a:srgbClr val="333A45"/>
                </a:solidFill>
                <a:latin typeface="맑은 고딕"/>
              </a:rPr>
              <a:t>· 세 겹의 감소 폭</a:t>
            </a:r>
          </a:p>
          <a:p>
            <a:pPr algn="l">
              <a:lnSpc>
                <a:spcPct val="142000"/>
              </a:lnSpc>
              <a:spcAft>
                <a:spcPts val="600"/>
              </a:spcAft>
            </a:pPr>
            <a:r>
              <a:rPr sz="1100" b="0">
                <a:solidFill>
                  <a:srgbClr val="333A45"/>
                </a:solidFill>
                <a:latin typeface="맑은 고딕"/>
              </a:rPr>
              <a:t>· 명부·관리·미관리의 갈라짐과 그 시점</a:t>
            </a:r>
          </a:p>
          <a:p>
            <a:pPr algn="l">
              <a:lnSpc>
                <a:spcPct val="142000"/>
              </a:lnSpc>
              <a:spcAft>
                <a:spcPts val="600"/>
              </a:spcAft>
            </a:pPr>
            <a:r>
              <a:rPr sz="1100" b="0">
                <a:solidFill>
                  <a:srgbClr val="333A45"/>
                </a:solidFill>
                <a:latin typeface="맑은 고딕"/>
              </a:rPr>
              <a:t>· 교화단의 감소</a:t>
            </a:r>
          </a:p>
          <a:p>
            <a:pPr algn="l">
              <a:lnSpc>
                <a:spcPct val="142000"/>
              </a:lnSpc>
              <a:spcAft>
                <a:spcPts val="600"/>
              </a:spcAft>
            </a:pPr>
            <a:r>
              <a:rPr sz="1100" b="0">
                <a:solidFill>
                  <a:srgbClr val="333A45"/>
                </a:solidFill>
                <a:latin typeface="맑은 고딕"/>
              </a:rPr>
              <a:t>· 재정 13개 값 전부</a:t>
            </a:r>
          </a:p>
          <a:p>
            <a:pPr algn="l">
              <a:lnSpc>
                <a:spcPct val="142000"/>
              </a:lnSpc>
              <a:spcAft>
                <a:spcPts val="600"/>
              </a:spcAft>
            </a:pPr>
            <a:r>
              <a:rPr sz="1100" b="0">
                <a:solidFill>
                  <a:srgbClr val="333A45"/>
                </a:solidFill>
                <a:latin typeface="맑은 고딕"/>
              </a:rPr>
              <a:t>· 나이 구성 14년 전량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1463040"/>
            <a:ext cx="5504688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73368" y="1609344"/>
            <a:ext cx="506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1">
                <a:solidFill>
                  <a:srgbClr val="312D5E"/>
                </a:solidFill>
                <a:latin typeface="맑은 고딕"/>
              </a:rPr>
              <a:t>답하지 못한 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1920240"/>
            <a:ext cx="506577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맑은 고딕"/>
              </a:rPr>
              <a:t>조건을 특정하지 못했거나 자료 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176272"/>
            <a:ext cx="5065775" cy="36758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Aft>
                <a:spcPts val="600"/>
              </a:spcAft>
            </a:pPr>
            <a:r>
              <a:rPr sz="1100" b="0">
                <a:solidFill>
                  <a:srgbClr val="333A45"/>
                </a:solidFill>
                <a:latin typeface="맑은 고딕"/>
              </a:rPr>
              <a:t>· 두 장부 대조의 소수점 값 세 개</a:t>
            </a:r>
          </a:p>
          <a:p>
            <a:pPr algn="l">
              <a:lnSpc>
                <a:spcPct val="142000"/>
              </a:lnSpc>
              <a:spcAft>
                <a:spcPts val="600"/>
              </a:spcAft>
            </a:pPr>
            <a:r>
              <a:rPr sz="1100" b="0">
                <a:solidFill>
                  <a:srgbClr val="333A45"/>
                </a:solidFill>
                <a:latin typeface="맑은 고딕"/>
              </a:rPr>
              <a:t>· 회귀 33개·상관 16건 (동결 산출물)</a:t>
            </a:r>
          </a:p>
          <a:p>
            <a:pPr algn="l">
              <a:lnSpc>
                <a:spcPct val="142000"/>
              </a:lnSpc>
              <a:spcAft>
                <a:spcPts val="600"/>
              </a:spcAft>
            </a:pPr>
            <a:r>
              <a:rPr sz="1100" b="0">
                <a:solidFill>
                  <a:srgbClr val="333A45"/>
                </a:solidFill>
                <a:latin typeface="맑은 고딕"/>
              </a:rPr>
              <a:t>· 자주 나오시는 층의 실인원·층별 인원</a:t>
            </a:r>
          </a:p>
          <a:p>
            <a:pPr algn="l">
              <a:lnSpc>
                <a:spcPct val="142000"/>
              </a:lnSpc>
              <a:spcAft>
                <a:spcPts val="600"/>
              </a:spcAft>
            </a:pPr>
            <a:r>
              <a:rPr sz="1100" b="0">
                <a:solidFill>
                  <a:srgbClr val="333A45"/>
                </a:solidFill>
                <a:latin typeface="맑은 고딕"/>
              </a:rPr>
              <a:t>· 교당 유형 분류(빠르게 11곳·버팀 6곳)</a:t>
            </a:r>
          </a:p>
          <a:p>
            <a:pPr algn="l">
              <a:lnSpc>
                <a:spcPct val="142000"/>
              </a:lnSpc>
              <a:spcAft>
                <a:spcPts val="600"/>
              </a:spcAft>
            </a:pPr>
            <a:r>
              <a:rPr sz="1100" b="0">
                <a:solidFill>
                  <a:srgbClr val="333A45"/>
                </a:solidFill>
                <a:latin typeface="맑은 고딕"/>
              </a:rPr>
              <a:t>· 원기106년 개설 급증의 이유</a:t>
            </a:r>
          </a:p>
          <a:p>
            <a:pPr algn="l">
              <a:lnSpc>
                <a:spcPct val="142000"/>
              </a:lnSpc>
              <a:spcAft>
                <a:spcPts val="600"/>
              </a:spcAft>
            </a:pPr>
            <a:r>
              <a:rPr sz="1100" b="0">
                <a:solidFill>
                  <a:srgbClr val="333A45"/>
                </a:solidFill>
                <a:latin typeface="맑은 고딕"/>
              </a:rPr>
              <a:t>· 담당과 개설의 선후</a:t>
            </a:r>
          </a:p>
          <a:p>
            <a:pPr algn="l">
              <a:lnSpc>
                <a:spcPct val="142000"/>
              </a:lnSpc>
              <a:spcAft>
                <a:spcPts val="600"/>
              </a:spcAft>
            </a:pPr>
            <a:r>
              <a:rPr sz="1100" b="0">
                <a:solidFill>
                  <a:srgbClr val="333A45"/>
                </a:solidFill>
                <a:latin typeface="맑은 고딕"/>
              </a:rPr>
              <a:t>· 왜 교단 안쪽이 지역보다 빨리 줄었나</a:t>
            </a:r>
          </a:p>
          <a:p>
            <a:pPr algn="l">
              <a:lnSpc>
                <a:spcPct val="142000"/>
              </a:lnSpc>
              <a:spcAft>
                <a:spcPts val="600"/>
              </a:spcAft>
            </a:pPr>
            <a:r>
              <a:rPr sz="1100" b="0">
                <a:solidFill>
                  <a:srgbClr val="333A45"/>
                </a:solidFill>
                <a:latin typeface="맑은 고딕"/>
              </a:rPr>
              <a:t>· 왜 덜 나오게 되셨나 (나이·거동·마음)</a:t>
            </a:r>
          </a:p>
          <a:p>
            <a:pPr algn="l">
              <a:lnSpc>
                <a:spcPct val="142000"/>
              </a:lnSpc>
              <a:spcAft>
                <a:spcPts val="600"/>
              </a:spcAft>
            </a:pPr>
            <a:r>
              <a:rPr sz="1100" b="0">
                <a:solidFill>
                  <a:srgbClr val="333A45"/>
                </a:solidFill>
                <a:latin typeface="맑은 고딕"/>
              </a:rPr>
              <a:t>· 기록과 현장이 같은가</a:t>
            </a:r>
          </a:p>
          <a:p>
            <a:pPr algn="l">
              <a:lnSpc>
                <a:spcPct val="142000"/>
              </a:lnSpc>
              <a:spcAft>
                <a:spcPts val="600"/>
              </a:spcAft>
            </a:pPr>
            <a:r>
              <a:rPr sz="1100" b="0">
                <a:solidFill>
                  <a:srgbClr val="333A45"/>
                </a:solidFill>
                <a:latin typeface="맑은 고딕"/>
              </a:rPr>
              <a:t>· 원기109·110 교무 총수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1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맑은 고딕"/>
              </a:rPr>
              <a:t>이 자료가 말하는 것까지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926080"/>
            <a:ext cx="1828800" cy="45720"/>
          </a:xfrm>
          <a:prstGeom prst="rect">
            <a:avLst/>
          </a:prstGeom>
          <a:solidFill>
            <a:srgbClr val="E8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3246120"/>
            <a:ext cx="10058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700"/>
              </a:spcAft>
            </a:pPr>
            <a:r>
              <a:rPr sz="1350" b="0">
                <a:solidFill>
                  <a:srgbClr val="C8C6E4"/>
                </a:solidFill>
                <a:latin typeface="맑은 고딕"/>
              </a:rPr>
              <a:t>· 함께 움직였다 — 여기까지가 이 자료로 말할 수 있는 전부입니다</a:t>
            </a:r>
          </a:p>
          <a:p>
            <a:pPr algn="l">
              <a:lnSpc>
                <a:spcPct val="150000"/>
              </a:lnSpc>
              <a:spcAft>
                <a:spcPts val="700"/>
              </a:spcAft>
            </a:pPr>
            <a:r>
              <a:rPr sz="1350" b="0">
                <a:solidFill>
                  <a:srgbClr val="C8C6E4"/>
                </a:solidFill>
                <a:latin typeface="맑은 고딕"/>
              </a:rPr>
              <a:t>· 기록과 현장이 같은지는 이 자료로 확인할 수 없습니다</a:t>
            </a:r>
          </a:p>
          <a:p>
            <a:pPr algn="l">
              <a:lnSpc>
                <a:spcPct val="150000"/>
              </a:lnSpc>
              <a:spcAft>
                <a:spcPts val="700"/>
              </a:spcAft>
            </a:pPr>
            <a:r>
              <a:rPr sz="1350" b="0">
                <a:solidFill>
                  <a:srgbClr val="C8C6E4"/>
                </a:solidFill>
                <a:latin typeface="맑은 고딕"/>
              </a:rPr>
              <a:t>· 집계·개인 도장·법회 기록은 사실상 한 뿌리로 보입니다</a:t>
            </a:r>
          </a:p>
          <a:p>
            <a:pPr algn="l">
              <a:lnSpc>
                <a:spcPct val="150000"/>
              </a:lnSpc>
              <a:spcAft>
                <a:spcPts val="700"/>
              </a:spcAft>
            </a:pPr>
            <a:r>
              <a:rPr sz="1350" b="0">
                <a:solidFill>
                  <a:srgbClr val="C8C6E4"/>
                </a:solidFill>
                <a:latin typeface="맑은 고딕"/>
              </a:rPr>
              <a:t>· 곳수 세 가지(38·43·37)를 한 문장에 섞지 않습니다</a:t>
            </a:r>
          </a:p>
          <a:p>
            <a:pPr algn="l">
              <a:lnSpc>
                <a:spcPct val="150000"/>
              </a:lnSpc>
              <a:spcAft>
                <a:spcPts val="700"/>
              </a:spcAft>
            </a:pPr>
            <a:r>
              <a:rPr sz="1350" b="0">
                <a:solidFill>
                  <a:srgbClr val="C8C6E4"/>
                </a:solidFill>
                <a:latin typeface="맑은 고딕"/>
              </a:rPr>
              <a:t>· 교당 사이에 등수를 매기지 않았습니다</a:t>
            </a:r>
          </a:p>
          <a:p>
            <a:pPr algn="l">
              <a:lnSpc>
                <a:spcPct val="150000"/>
              </a:lnSpc>
              <a:spcAft>
                <a:spcPts val="700"/>
              </a:spcAft>
            </a:pPr>
            <a:r>
              <a:rPr sz="1350" b="0">
                <a:solidFill>
                  <a:srgbClr val="C8C6E4"/>
                </a:solidFill>
                <a:latin typeface="맑은 고딕"/>
              </a:rPr>
              <a:t>· 재현되지 않은 값은 재현되지 않은 채로 두었습니다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8B88B8"/>
                </a:solidFill>
                <a:latin typeface="맑은 고딕"/>
              </a:rPr>
              <a:t>총합본 제4판 · 대조표 audit/대조표_20260824.csv · 재계산 코드 audit/c1~c9*.py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